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五个入口指 rule_text、physbert、table、equation、figure。规则与 PhysBERT 最终合并为同一 TextEvidence 类型。图片接口存在，但本轮 30 篇正式评估未启用 VLM。来源：项目 README、docs/architecture.md、docs/evidence.md。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正确案例：Paper 4，DOI 10.1016/j.jallcom.2019.05.068。来源：outputs/runs/tc_fulltext_001_030_20260904/predictions.json，material_reported=0.66BaTiO3-0.33CoFe2O4，720 K 的 conditions.phase_arrangement=randomly mixed phases，746 K 的 conditions.phase_arrangement=tri-layer/layered structure；共同 evidence_id=10_1016_j_jallcom_2019_05_068_FULL_TEXT_0003_TEXT。Gold：outputs/gold/tc_001_030/gold_facts.json，Paper 4，两条均 ACCEPTED、current_work、page 1。原文明确给出相同组成 0.66BaTiO3-0.33CoFe2O4，随机混合与三层结构的磁性 Curie 温度分别为 720 K、746 K。本页 ACCEPT 为依据原文及已接受 Gold 核对后的展示结论。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来源：Codex 任务“安装 instsci MCP 和 skill”（01a07026-eec6-75d0-8f8d-7ee087bbc679），2026-09-05 对话记录。记录说明：InstSci MCP 8 个工具可识别、握手及只读调用通过；DOI 10.1016/j.watres.2024.121507 经 CloakBrowser 自动下载成功，核对为 11 页、约 12 MB。该文仅用于独立下载验证，不属于 Tc 30 篇准确率基准。同一把 Key 的 Scopus 搜索返回 200，ScienceDirect 文章接口返回 403。Elsevier 工单 260805-022759 的回复草稿建议初期约 500 篇；尚无已发送或审批通过的记录。本页为截至该对话的进度，不表示本次重新测试了服务。ComProScanner 自动衔接属于下一步，尚未完成。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来源：Codex 任务“安装 instsci MCP 和 skill”（01a07026-eec6-75d0-8f8d-7ee087bbc679）2026-09-05 的 API 排查和申请邮件草稿。Scopus 200、ScienceDirect 403 为对话记录的测试结果。Elsevier 工单 260805-022759：草稿建议初期约 500 篇，尚无已发送或已批准记录。自动衔接是后续目标，本页不声称已实现 PDF/XML 自动入库；XML 取得仍取决于接口授权。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92C5A95-26CC-453C-912B-E50F30C3618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10871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统一的模块化抽取主链路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B44935-6924-44E1-A983-21489B20B1C9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所有输入先成为 Article，所有候选都成为 Evidence，所有结果都成为 Fact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4C9200-5FF7-4E93-A74F-24383D34CF9E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49A7C5"/>
          </a:solidFill>
          <a:ln w="0">
            <a:solidFill>
              <a:srgbClr val="49A7C5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ABBDBA-A374-4E99-B0A7-E83A184D5364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本地 PDF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API 下载 PDF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出版商 XML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5343D3-69C3-4AEA-928E-12B279597A41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文献输入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3A7601-54ED-4B2E-BCF6-7E71261C8D97}"/>
              </a:ext>
            </a:extLst>
          </p:cNvPr>
          <p:cNvSpPr>
            <a:spLocks noGrp="1"/>
          </p:cNvSpPr>
          <p:nvPr/>
        </p:nvSpPr>
        <p:spPr>
          <a:xfrm>
            <a:off x="18669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FD2628-2DCC-4EAF-9CBA-4821AEB09345}"/>
              </a:ext>
            </a:extLst>
          </p:cNvPr>
          <p:cNvSpPr>
            <a:spLocks noGrp="1"/>
          </p:cNvSpPr>
          <p:nvPr/>
        </p:nvSpPr>
        <p:spPr>
          <a:xfrm>
            <a:off x="20002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全文与来源统一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paper_id / DOI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路径与文件哈希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3765EF-5232-47F4-871E-6979851A45DC}"/>
              </a:ext>
            </a:extLst>
          </p:cNvPr>
          <p:cNvSpPr>
            <a:spLocks noGrp="1"/>
          </p:cNvSpPr>
          <p:nvPr/>
        </p:nvSpPr>
        <p:spPr>
          <a:xfrm>
            <a:off x="20002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C6238D-5FD1-4949-9C39-49F28F93E94C}"/>
              </a:ext>
            </a:extLst>
          </p:cNvPr>
          <p:cNvSpPr>
            <a:spLocks noGrp="1"/>
          </p:cNvSpPr>
          <p:nvPr/>
        </p:nvSpPr>
        <p:spPr>
          <a:xfrm>
            <a:off x="34671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5507D3-C76B-400B-B2AE-FBD8DAFD244A}"/>
              </a:ext>
            </a:extLst>
          </p:cNvPr>
          <p:cNvSpPr>
            <a:spLocks noGrp="1"/>
          </p:cNvSpPr>
          <p:nvPr/>
        </p:nvSpPr>
        <p:spPr>
          <a:xfrm>
            <a:off x="36004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全文只切分一次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规则与向量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共享 chunk_id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E5B66-0B6C-448D-922C-CFB1B90D4E10}"/>
              </a:ext>
            </a:extLst>
          </p:cNvPr>
          <p:cNvSpPr>
            <a:spLocks noGrp="1"/>
          </p:cNvSpPr>
          <p:nvPr/>
        </p:nvSpPr>
        <p:spPr>
          <a:xfrm>
            <a:off x="36004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TextChunk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85FFE2-4128-4057-9C52-CD7D02168876}"/>
              </a:ext>
            </a:extLst>
          </p:cNvPr>
          <p:cNvSpPr>
            <a:spLocks noGrp="1"/>
          </p:cNvSpPr>
          <p:nvPr/>
        </p:nvSpPr>
        <p:spPr>
          <a:xfrm>
            <a:off x="50673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D31283D-3C44-4222-923E-A9C81A9B9CF8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11430">
            <a:solidFill>
              <a:srgbClr val="17324D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五个可插拔入口</a:t>
            </a:r>
          </a:p>
          <a:p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保留原文与来源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6A8F2-2C8B-463A-A1C0-F6A7919DF124}"/>
              </a:ext>
            </a:extLst>
          </p:cNvPr>
          <p:cNvSpPr>
            <a:spLocks noGrp="1"/>
          </p:cNvSpPr>
          <p:nvPr/>
        </p:nvSpPr>
        <p:spPr>
          <a:xfrm>
            <a:off x="52006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5F97AE-852C-4D77-9FD2-2F1693C8C5CF}"/>
              </a:ext>
            </a:extLst>
          </p:cNvPr>
          <p:cNvSpPr>
            <a:spLocks noGrp="1"/>
          </p:cNvSpPr>
          <p:nvPr/>
        </p:nvSpPr>
        <p:spPr>
          <a:xfrm>
            <a:off x="66675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2FC038-0D81-4CEF-9BC5-8EFDE1299F42}"/>
              </a:ext>
            </a:extLst>
          </p:cNvPr>
          <p:cNvSpPr>
            <a:spLocks noGrp="1"/>
          </p:cNvSpPr>
          <p:nvPr/>
        </p:nvSpPr>
        <p:spPr>
          <a:xfrm>
            <a:off x="68008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筛选抽取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80405E-A92B-4B75-8C17-012FB084AD31}"/>
              </a:ext>
            </a:extLst>
          </p:cNvPr>
          <p:cNvSpPr>
            <a:spLocks noGrp="1"/>
          </p:cNvSpPr>
          <p:nvPr/>
        </p:nvSpPr>
        <p:spPr>
          <a:xfrm>
            <a:off x="68008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1B1A9A-D777-4DE9-B0E8-7D85B2512BB3}"/>
              </a:ext>
            </a:extLst>
          </p:cNvPr>
          <p:cNvSpPr>
            <a:spLocks noGrp="1"/>
          </p:cNvSpPr>
          <p:nvPr/>
        </p:nvSpPr>
        <p:spPr>
          <a:xfrm>
            <a:off x="82677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3735769-C19A-4C00-B023-3612B7BA9CF1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 + Tc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证据关联与合并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F37321-04E6-4FBF-9F1F-11FA3B7EE15D}"/>
              </a:ext>
            </a:extLst>
          </p:cNvPr>
          <p:cNvSpPr>
            <a:spLocks noGrp="1"/>
          </p:cNvSpPr>
          <p:nvPr/>
        </p:nvSpPr>
        <p:spPr>
          <a:xfrm>
            <a:off x="84010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Fact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3CB47D-F4CB-4FB6-9733-450BBF136B51}"/>
              </a:ext>
            </a:extLst>
          </p:cNvPr>
          <p:cNvSpPr>
            <a:spLocks noGrp="1"/>
          </p:cNvSpPr>
          <p:nvPr/>
        </p:nvSpPr>
        <p:spPr>
          <a:xfrm>
            <a:off x="9867900" y="2181225"/>
            <a:ext cx="133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A62A6E4-2F20-4DF1-AB8B-E7AEC0D70E50}"/>
              </a:ext>
            </a:extLst>
          </p:cNvPr>
          <p:cNvSpPr>
            <a:spLocks noGrp="1"/>
          </p:cNvSpPr>
          <p:nvPr/>
        </p:nvSpPr>
        <p:spPr>
          <a:xfrm>
            <a:off x="10001250" y="1752600"/>
            <a:ext cx="14668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Gold 与指标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E1D253-2408-4897-94A7-1BC8E3D05C75}"/>
              </a:ext>
            </a:extLst>
          </p:cNvPr>
          <p:cNvSpPr>
            <a:spLocks noGrp="1"/>
          </p:cNvSpPr>
          <p:nvPr/>
        </p:nvSpPr>
        <p:spPr>
          <a:xfrm>
            <a:off x="10001250" y="1428750"/>
            <a:ext cx="1466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82D1B2-ABD0-4193-BAA2-14C4D1B92E3F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层把工具差异封装起来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B1B5623-A9AC-4E02-A828-51A33B3544A7}"/>
              </a:ext>
            </a:extLst>
          </p:cNvPr>
          <p:cNvSpPr>
            <a:spLocks noGrp="1"/>
          </p:cNvSpPr>
          <p:nvPr/>
        </p:nvSpPr>
        <p:spPr>
          <a:xfrm>
            <a:off x="552450" y="3848100"/>
            <a:ext cx="2038350" cy="99060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 w="11430">
            <a:solidFill>
              <a:srgbClr val="49A7C5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① 规则文本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关键词与数值模式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FFA4D26-D281-486D-BA95-9A9E8C339FCC}"/>
              </a:ext>
            </a:extLst>
          </p:cNvPr>
          <p:cNvSpPr>
            <a:spLocks noGrp="1"/>
          </p:cNvSpPr>
          <p:nvPr/>
        </p:nvSpPr>
        <p:spPr>
          <a:xfrm>
            <a:off x="2762250" y="3848100"/>
            <a:ext cx="2038350" cy="990600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 w="11430">
            <a:solidFill>
              <a:srgbClr val="49A7C5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② PhysBERT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语义向量检索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D0B4215-CAF3-4C79-9F8B-560FAA4D5789}"/>
              </a:ext>
            </a:extLst>
          </p:cNvPr>
          <p:cNvSpPr>
            <a:spLocks noGrp="1"/>
          </p:cNvSpPr>
          <p:nvPr/>
        </p:nvSpPr>
        <p:spPr>
          <a:xfrm>
            <a:off x="4972050" y="3848100"/>
            <a:ext cx="2038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③ 表格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表题、表头、数据行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892C33B-2172-48BD-A85F-1CC5FDF68F31}"/>
              </a:ext>
            </a:extLst>
          </p:cNvPr>
          <p:cNvSpPr>
            <a:spLocks noGrp="1"/>
          </p:cNvSpPr>
          <p:nvPr/>
        </p:nvSpPr>
        <p:spPr>
          <a:xfrm>
            <a:off x="7181850" y="3848100"/>
            <a:ext cx="2038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④ 公式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公式与附近解释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FAF475B-8459-41E7-8FC9-7E7E1ECD0E6B}"/>
              </a:ext>
            </a:extLst>
          </p:cNvPr>
          <p:cNvSpPr>
            <a:spLocks noGrp="1"/>
          </p:cNvSpPr>
          <p:nvPr/>
        </p:nvSpPr>
        <p:spPr>
          <a:xfrm>
            <a:off x="9391650" y="3848100"/>
            <a:ext cx="2038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⑤ 图片</a:t>
            </a:r>
          </a:p>
          <a:p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图注、附近原文、VLM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6A93CA-36BB-454A-B4ED-AC6735D34811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规则文本与 PhysBERT 是两个检索入口，但命中同一 chunk 时只生成一条 TextEvidence。表格、公式和图片使用相同 Evidence 契约，因此新增工具不需要复制主流程。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936C2DA-C645-49EE-9246-C4CBD863F634}"/>
              </a:ext>
            </a:extLst>
          </p:cNvPr>
          <p:cNvSpPr>
            <a:spLocks noGrp="1"/>
          </p:cNvSpPr>
          <p:nvPr/>
        </p:nvSpPr>
        <p:spPr>
          <a:xfrm>
            <a:off x="571500" y="5848350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17324D"/>
          </a:solidFill>
          <a:ln w="11430">
            <a:solidFill>
              <a:srgbClr val="17324D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输入源、检索方法、模型与性质配置可以独立替换，原文证据始终贯穿到最终数据库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6DD15A4-612A-4823-96BF-4C66F2968C5E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E4F49B-EA3E-478F-BD0E-D115238F0BF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154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CB6DF48-EDBF-4C6C-A3F8-F7D2186D1AD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10871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让抽取结果可以直接审核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FD3BA3-CC0B-4986-8C42-89AA12D86099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模型输出不再脱离原文，审核人员可以接受、拒绝或修改每条 Fact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740A28-4FFE-4FD1-BD43-4CDB92831B78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49A7C5"/>
          </a:solidFill>
          <a:ln w="0">
            <a:solidFill>
              <a:srgbClr val="49A7C5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584F6E-4A17-44CD-806C-7ADD2C7498A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3352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一条 Fact 的信息链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E1F4A7-19DA-4CD7-A303-0C1FB53E4B69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EAF3F7"/>
          </a:solidFill>
          <a:ln w="11430">
            <a:solidFill>
              <a:srgbClr val="49A7C5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原文 Evidence</a:t>
            </a:r>
          </a:p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完整连续文本 + source_id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20E3B7-F3E7-4152-B7F3-2E96A54D2140}"/>
              </a:ext>
            </a:extLst>
          </p:cNvPr>
          <p:cNvSpPr>
            <a:spLocks noGrp="1"/>
          </p:cNvSpPr>
          <p:nvPr/>
        </p:nvSpPr>
        <p:spPr>
          <a:xfrm>
            <a:off x="1790700" y="26860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E10A2E9-7ECC-4CD5-92B9-EE3BB85861F3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2F6F9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LLM 抽取</a:t>
            </a:r>
          </a:p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材料、Tc、单位、限定词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51D616-8877-4180-8C24-DA29D2F5D5A5}"/>
              </a:ext>
            </a:extLst>
          </p:cNvPr>
          <p:cNvSpPr>
            <a:spLocks noGrp="1"/>
          </p:cNvSpPr>
          <p:nvPr/>
        </p:nvSpPr>
        <p:spPr>
          <a:xfrm>
            <a:off x="1790700" y="381000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917ECF-E1ED-4BAD-87CC-25C2C6B91D00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2F6F9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Fact 合并</a:t>
            </a:r>
          </a:p>
          <a:p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保留全部 evidence_id 与原始写法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B7EE7E-C6DE-49A2-8ADA-A0E8151DE99A}"/>
              </a:ext>
            </a:extLst>
          </p:cNvPr>
          <p:cNvSpPr>
            <a:spLocks noGrp="1"/>
          </p:cNvSpPr>
          <p:nvPr/>
        </p:nvSpPr>
        <p:spPr>
          <a:xfrm>
            <a:off x="1790700" y="49339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4247B0-9F1B-4A81-9AD0-92BFF8F912EF}"/>
              </a:ext>
            </a:extLst>
          </p:cNvPr>
          <p:cNvSpPr>
            <a:spLocks noGrp="1"/>
          </p:cNvSpPr>
          <p:nvPr/>
        </p:nvSpPr>
        <p:spPr>
          <a:xfrm>
            <a:off x="552450" y="5295900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17324D"/>
          </a:solidFill>
          <a:ln w="11430">
            <a:solidFill>
              <a:srgbClr val="17324D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 / REJECT / MODIFY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9D5659-1D2C-45F9-80FA-5E4038D7025D}"/>
              </a:ext>
            </a:extLst>
          </p:cNvPr>
          <p:cNvSpPr>
            <a:spLocks noGrp="1"/>
          </p:cNvSpPr>
          <p:nvPr/>
        </p:nvSpPr>
        <p:spPr>
          <a:xfrm>
            <a:off x="4210050" y="1466850"/>
            <a:ext cx="74104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 示例：Paper 4 · 复合材料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="4210050" y="1924050"/>
          <a:ext cx="7410450" cy="2819400"/>
        </p:xfrm>
        <a:graphic>
          <a:graphicData uri="http://schemas.openxmlformats.org/drawingml/2006/table">
            <a:tbl>
              <a:tblPr firstRow="1"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审核内容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模型材料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0.66BaTiO3–0.33CoFe2O4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磁性 Tc / 结构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720 K：随机混合结构；746 K：三层结构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原文证据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... ranges from 720 K in the randomly mixed structure to 746 K for the layered one.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审核结论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45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ACCEPT：组成、结构与 Tc 对应正确，两条 Fact 分别保留</a:t>
                      </a:r>
                    </a:p>
                  </a:txBody>
                  <a:tcPr marL="95250" marR="95250" marT="66675" marB="66675" anchor="ctr"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8D5058-2E9B-4DD7-9B47-D51CEAE7472E}"/>
              </a:ext>
            </a:extLst>
          </p:cNvPr>
          <p:cNvSpPr>
            <a:spLocks noGrp="1"/>
          </p:cNvSpPr>
          <p:nvPr/>
        </p:nvSpPr>
        <p:spPr>
          <a:xfrm>
            <a:off x="4210050" y="5295900"/>
            <a:ext cx="7410450" cy="571500"/>
          </a:xfrm>
          <a:prstGeom prst="roundRect">
            <a:avLst>
              <a:gd name="adj" fmla="val 7547"/>
            </a:avLst>
          </a:prstGeom>
          <a:solidFill>
            <a:srgbClr val="F8FAFB"/>
          </a:solidFill>
          <a:ln w="11430">
            <a:solidFill>
              <a:srgbClr val="CBD7DF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同一组成对应不同结构与 Tc；保留结构条件，避免合并为同一条记录。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587060-2BD4-4AF0-9417-46EB8514DE55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BC7AB5-D46E-4767-9403-3129A08FD2B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392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7D68FDC-B6C9-4285-8818-107CE98C51F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10871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InstSci 文献获取流程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1DEE06-51C8-4EF8-91C3-B5F72AEAC63B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通过机构访问获取全文，复用浏览器会话并保留下载验证记录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276245-9082-427D-B308-F4AA4EAA1404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已验证的浏览器下载流程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5BBB05-8C91-4348-A921-E87AF1821FC1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DOI → ScienceDirect → </a:t>
            </a:r>
            <a:r>
              <a:rPr sz="1725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复用机构访问会话</a:t>
            </a:r>
            <a:r>
              <a:rPr sz="1725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自动捕获</a:t>
            </a:r>
            <a:r>
              <a:rPr sz="1725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PDF → </a:t>
            </a:r>
            <a:r>
              <a:rPr sz="1725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文件核验</a:t>
            </a:r>
            <a:endParaRPr sz="1725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4712CF-5364-4636-9272-3B155B0CC0F1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出版社域名直连；登录或验证需要时人工介入，随后由工作流继续下载。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571500" y="2990850"/>
          <a:ext cx="11049000" cy="17145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 / 通道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已确认的范围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InstSci MCP + Skill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安装完成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个工具可识别，握手及只读调用通过</a:t>
                      </a:r>
                    </a:p>
                  </a:txBody>
                  <a:tcPr marL="114300" marR="11430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 PDF 下载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单篇成功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自动保存并核对 DOI、标题；11 页，约 12 MB</a:t>
                      </a:r>
                    </a:p>
                  </a:txBody>
                  <a:tcPr marL="114300" marR="11430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EA3DF7E-86B3-4ED5-BC24-D806E10C90D5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下载验证 DOI：10.1016/j.watres.2024.121507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9441F3-879D-4969-9A1D-EF571E41EB51}"/>
              </a:ext>
            </a:extLst>
          </p:cNvPr>
          <p:cNvSpPr>
            <a:spLocks noGrp="1"/>
          </p:cNvSpPr>
          <p:nvPr/>
        </p:nvSpPr>
        <p:spPr>
          <a:xfrm>
            <a:off x="571500" y="57721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已跑通单篇自动下载；登录过期或出现验证时，仍可能需要人工介入。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FD8BFB-D893-4CBB-9DAE-7E3648E0F4BD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3A986B-D9CF-4E60-9F40-C1DE2B05163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542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08B58C2-BDFA-4924-9DF1-8D915A0D26C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10871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全文 API 验证与后续衔接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EE0634-6038-4EF7-9681-68756DACC678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浏览器访问、API 授权和数据抽取是三个需要分别验证的环节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58B8E5-1330-4CF2-BBB2-791B86287B62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同一把</a:t>
            </a:r>
            <a:r>
              <a:rPr sz="1725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API Key </a:t>
            </a:r>
            <a:r>
              <a:rPr sz="1725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的实测结果</a:t>
            </a:r>
            <a:endParaRPr sz="1725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571500" y="2038350"/>
          <a:ext cx="11049000" cy="165735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14300" marR="11430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14300" marR="11430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114300" marR="114300" marT="76200" marB="76200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Scopus </a:t>
                      </a:r>
                      <a:r>
                        <a:rPr sz="1500" b="1" dirty="0" err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</a:t>
                      </a:r>
                      <a:endParaRPr sz="1500" b="1" dirty="0">
                        <a:solidFill>
                          <a:srgbClr val="1732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14300" marR="114300" marT="76200" marB="7620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200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密钥可用于文献检索</a:t>
                      </a:r>
                      <a:endParaRPr sz="1500" dirty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ScienceDirect 文章全文</a:t>
                      </a:r>
                    </a:p>
                  </a:txBody>
                  <a:tcPr marL="114300" marR="114300" marT="76200" marB="76200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403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全文接口授权或机构识别仍待核查</a:t>
                      </a:r>
                      <a:endParaRPr sz="1500" dirty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C9B3CF4-DB12-44B5-909A-4C857BF3A0B9}"/>
              </a:ext>
            </a:extLst>
          </p:cNvPr>
          <p:cNvSpPr>
            <a:spLocks noGrp="1"/>
          </p:cNvSpPr>
          <p:nvPr/>
        </p:nvSpPr>
        <p:spPr>
          <a:xfrm>
            <a:off x="571500" y="395287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 ComProScanner 的自动衔接：待实现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4A2E1A-7FC2-4565-A6ED-C0142455DC6F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InstSci 获取 PDF / XML → 统一 Article → Evidence 抽取 → JSON / Review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99274C-E920-4E85-8FFB-374977E529D0}"/>
              </a:ext>
            </a:extLst>
          </p:cNvPr>
          <p:cNvSpPr>
            <a:spLocks noGrp="1"/>
          </p:cNvSpPr>
          <p:nvPr/>
        </p:nvSpPr>
        <p:spPr>
          <a:xfrm>
            <a:off x="571500" y="499110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已拟好</a:t>
            </a:r>
            <a:r>
              <a:rPr sz="1500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Elsevier </a:t>
            </a:r>
            <a:r>
              <a:rPr sz="1500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全文权限申请回复</a:t>
            </a:r>
            <a:endParaRPr sz="1500" b="0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4A0AC5-A2D5-41ED-9823-0C473FA7B646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当前可用：已验证的浏览器下载路线。下一步：核查全文</a:t>
            </a:r>
            <a:r>
              <a:rPr sz="15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API </a:t>
            </a:r>
            <a:r>
              <a:rPr sz="15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权限，再接通自动入库</a:t>
            </a:r>
            <a:r>
              <a:rPr sz="15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1DCB9-61CD-4089-93E2-74CD1E5EC0EB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BA5DCC-A71A-4C9C-92A8-B259BC9EF31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6636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DocSecurity>0</DocSecurity>
  <PresentationFormat>宽屏</PresentationFormat>
  <Paragraphs>114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陈敏焘 陈</cp:lastModifiedBy>
  <cp:revision>1</cp:revision>
  <dcterms:created xsi:type="dcterms:W3CDTF">2026-09-05T09:20:27Z</dcterms:created>
  <dcterms:modified xsi:type="dcterms:W3CDTF">2026-09-05T14:13:28Z</dcterms:modified>
</cp:coreProperties>
</file>