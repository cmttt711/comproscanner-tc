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c68f6b4da4bfd" /><Relationship Type="http://schemas.openxmlformats.org/officeDocument/2006/relationships/extended-properties" Target="/docProps/app.xml" Id="R1b3605b760f34aeb" /><Relationship Type="http://schemas.openxmlformats.org/officeDocument/2006/relationships/officeDocument" Target="/ppt/presentation.xml" Id="Ra9c78a0a083b4a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14bfc73ea4d95"/>
  </p:sldMasterIdLst>
  <p:notesMasterIdLst>
    <p:notesMasterId xmlns:r="http://schemas.openxmlformats.org/officeDocument/2006/relationships" r:id="Rde39b821a6f7478e"/>
  </p:notesMasterIdLst>
  <p:sldIdLst>
    <p:sldId xmlns:r="http://schemas.openxmlformats.org/officeDocument/2006/relationships" id="256" r:id="R7209cc12f104408e"/>
    <p:sldId xmlns:r="http://schemas.openxmlformats.org/officeDocument/2006/relationships" id="257" r:id="R2e7a5082eb3f45c6"/>
    <p:sldId xmlns:r="http://schemas.openxmlformats.org/officeDocument/2006/relationships" id="258" r:id="R59b28d18d7d3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99b5983934c7a" /><Relationship Type="http://schemas.openxmlformats.org/officeDocument/2006/relationships/slideMaster" Target="/ppt/slideMasters/slideMaster1.xml" Id="R94614bfc73ea4d95" /><Relationship Type="http://schemas.openxmlformats.org/officeDocument/2006/relationships/notesMaster" Target="/ppt/notesMasters/notesMaster1.xml" Id="Rde39b821a6f7478e" /><Relationship Type="http://schemas.openxmlformats.org/officeDocument/2006/relationships/presProps" Target="/ppt/presProps.xml" Id="Rf0759a9a7a1d4d95" /><Relationship Type="http://schemas.openxmlformats.org/officeDocument/2006/relationships/viewProps" Target="/ppt/viewProps.xml" Id="R3d950936860c4d27" /><Relationship Type="http://schemas.openxmlformats.org/officeDocument/2006/relationships/tableStyles" Target="/ppt/tableStyles.xml" Id="R3d851403e4ba4d57" /><Relationship Type="http://schemas.openxmlformats.org/officeDocument/2006/relationships/slide" Target="/ppt/slides/slide1.xml" Id="R7209cc12f104408e" /><Relationship Type="http://schemas.openxmlformats.org/officeDocument/2006/relationships/slide" Target="/ppt/slides/slide2.xml" Id="R2e7a5082eb3f45c6" /><Relationship Type="http://schemas.openxmlformats.org/officeDocument/2006/relationships/slide" Target="/ppt/slides/slide3.xml" Id="R59b28d18d7d3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180501227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fd897524e64bad" /><Relationship Type="http://schemas.openxmlformats.org/officeDocument/2006/relationships/notesMaster" Target="/ppt/notesMasters/notesMaster1.xml" Id="R637e0c1b3e2a4b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32a8e239f4916" /><Relationship Type="http://schemas.openxmlformats.org/officeDocument/2006/relationships/notesMaster" Target="/ppt/notesMasters/notesMaster1.xml" Id="R28a4a1fd80964e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1512fefd7e4f8a" /><Relationship Type="http://schemas.openxmlformats.org/officeDocument/2006/relationships/notesMaster" Target="/ppt/notesMasters/notesMaster1.xml" Id="R82ff24d8cd76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五个入口指 rule_text、physbert、table、equation、figure。规则与 PhysBERT 最终合并为同一 TextEvidence 类型。图片接口存在，但本轮 30 篇正式评估未启用 VLM。来源：项目 README、docs/architecture.md、docs/evidence.md。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正确案例：Paper 4，DOI 10.1016/j.jallcom.2019.05.068。来源：outputs/runs/tc_fulltext_001_030_20260904/predictions.json，material_reported=0.66BaTiO3-0.33CoFe2O4，720 K 的 conditions.phase_arrangement=randomly mixed phases，746 K 的 conditions.phase_arrangement=tri-layer/layered structure；共同 evidence_id=10_1016_j_jallcom_2019_05_068_FULL_TEXT_0003_TEXT。Gold：outputs/gold/tc_001_030/gold_facts.json，Paper 4，两条均 ACCEPTED、current_work、page 1。原文明确给出相同组成 0.66BaTiO3-0.33CoFe2O4，随机混合与三层结构的磁性 Curie 温度分别为 720 K、746 K。本页 ACCEPT 为依据原文及已接受 Gold 核对后的展示结论。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来源：Codex 任务“安装 instsci MCP 和 skill”（01a07026-eec6-75d0-8f8d-7ee087bbc679），2026-09-05 对话记录。记录说明：InstSci MCP 8 个工具可识别、握手及只读调用通过；DOI 10.1016/j.watres.2024.121507 经 CloakBrowser 自动下载成功，核对为 11 页、约 12 MB。该文仅用于独立下载验证，不属于 Tc 30 篇准确率基准。同一把 Key 的 Scopus 搜索返回 200，ScienceDirect 文章接口返回 403。Elsevier 工单 260805-022759 的回复草稿建议初期约 500 篇；尚无已发送或审批通过的记录。本页为截至该对话的进度，不表示本次重新测试了服务。ComProScanner 自动衔接属于下一步，尚未完成。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d9c8468484e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f78bb6fd448d4" /><Relationship Type="http://schemas.openxmlformats.org/officeDocument/2006/relationships/slideLayout" Target="/ppt/slideLayouts/slideLayout1.xml" Id="R15cad88d5e384f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ad88d5e384f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e62a9de2b4d92" /><Relationship Type="http://schemas.openxmlformats.org/officeDocument/2006/relationships/notesSlide" Target="/ppt/notesSlides/notesSlide1.xml" Id="R0dd0a0493a72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a51c370814350" /><Relationship Type="http://schemas.openxmlformats.org/officeDocument/2006/relationships/notesSlide" Target="/ppt/notesSlides/notesSlide2.xml" Id="R16dea8dcecb6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d72b4d07a400c" /><Relationship Type="http://schemas.openxmlformats.org/officeDocument/2006/relationships/notesSlide" Target="/ppt/notesSlides/notesSlide3.xml" Id="R8b108b22f20f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92C5A95-26CC-453C-912B-E50F30C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统一的模块化抽取主链路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B44935-6924-44E1-A983-21489B2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所有输入先成为 Article，所有候选都成为 Evidence，所有结果都成为 Fact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24C9200-5FF7-4E93-A74F-24383D3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C5"/>
          </a:solidFill>
          <a:ln xmlns:a="http://schemas.openxmlformats.org/drawingml/2006/main" w="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54ABBDBA-A374-4E99-B0A7-E83A184D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本地 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API 下载 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出版商 XML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E5343D3-69C3-4AEA-928E-12B27959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E3A7601-54ED-4B2E-BCF6-7E71261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E5FD2628-2DCC-4EAF-9CBA-4821AEB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全文与来源统一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paper_id / DOI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路径与文件哈希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3765EF-5232-47F4-871E-6979851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2C6238D-5FD1-4949-9C39-49F28F93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95507D3-C76B-400B-B2AE-FBD8DAF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全文只切分一次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规则与向量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共享 chunk_id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3E5B66-0B6C-448D-922C-CFB1B90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TextChunk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385FFE2-4128-4057-9C52-CD7D0216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D31283D-3C44-4222-923E-A9C81A9B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五个可插拔入口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保留原文与来源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36A8F2-2C8B-463A-A1C0-F6A7919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05F97AE-852C-4D77-9FD2-2F1693C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F2FC038-0D81-4CEF-9BC5-8EFDE12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筛选抽取</a:t>
            </a:r>
            <a:endParaRPr sz="1275" b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80405E-A92B-4B75-8C17-012FB08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61B1A9A-D777-4DE9-B0E8-7D85B251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F3735769-C19A-4C00-B023-3612B7B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 + Tc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证据关联与合并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F37321-04E6-4FBF-9F1F-11FA3B7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Fact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83CB47D-F4CB-4FB6-9733-450BBF1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6A62A6E4-2F20-4DF1-AB8B-E7AEC0D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Gold 与指标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5E1D253-2408-4897-94A7-1BC8E3D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82D1B2-ABD0-4193-BAA2-14C4D1B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层把工具差异封装起来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8B1B5623-A9AC-4E02-A828-51A33B3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① 规则文本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关键词与数值模式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FFFA4D26-D281-486D-BA95-9A9E8C3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② PhysBERT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语义向量检索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9D0B4215-CAF3-4C79-9F8B-560FAA4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③ 表格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表题、表头、数据行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892C33B-2172-48BD-A85F-1CC5FDF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④ 公式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公式与附近解释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2FAF475B-8459-41E7-8FC9-7E7E1EC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⑤ 图片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图注、附近原文、VLM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C6A93CA-36BB-454A-B4ED-AC6735D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规则文本与 PhysBERT 是两个检索入口，但命中同一 chunk 时只生成一条 TextEvidence。表格、公式和图片使用相同 Evidence 契约，因此新增工具不需要复制主流程。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6936C2DA-C645-49EE-9246-C4CBD86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输入源、检索方法、模型与性质配置可以独立替换，原文证据始终贯穿到最终数据库</a:t>
            </a:r>
            <a:endParaRPr sz="15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6DD15A4-612A-4823-96BF-4C66F29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9E4F49B-EA3E-478F-BD0E-D115238F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1546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CB6DF48-EDBF-4C6C-A3F8-F7D2186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让抽取结果可以直接审核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FD3BA3-CC0B-4986-8C42-89AA12D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模型输出不再脱离原文，审核人员可以接受、拒绝或修改每条</a:t>
            </a: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 Fact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740A28-4FFE-4FD1-BD43-4CDB928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C5"/>
          </a:solidFill>
          <a:ln xmlns:a="http://schemas.openxmlformats.org/drawingml/2006/main" w="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584F6E-4A17-44CD-806C-7ADD2C7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一条 Fact 的信息链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C1E1F4A7-19DA-4CD7-A303-0C1FB53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原文 Evidence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完整连续文本 + source_id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20E3B7-F3E7-4152-B7F3-2E96A54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86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E10A2E9-7ECC-4CD5-92B9-EE3BB858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LLM 抽取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材料、Tc、单位、限定词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751D616-8877-4180-8C24-DA29D2F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F917ECF-E1ED-4BAD-87CC-25C2C6B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Fact 合并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保留全部 evidence_id 与原始写法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EB7EE7E-C6DE-49A2-8ADA-A0E8151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339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F4247B0-9F1B-4A81-9AD0-92BFF8F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 / REJECT / MODIFY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9D5659-1D2C-45F9-80FA-5E4038D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66850"/>
            <a:ext cx="741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 示例：Paper 4 · 复合材料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mlns:a="http://schemas.openxmlformats.org/drawingml/2006/main" x="4210050" y="1924050"/>
          <a:ext xmlns:a="http://schemas.openxmlformats.org/drawingml/2006/main" cx="7410450" cy="28194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57350"/>
                <a:gridCol w="5753100"/>
              </a:tblGrid>
              <a:tr h="5638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审核内容</a:t>
                      </a:r>
                      <a:endParaRPr sz="127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模型材料</a:t>
                      </a:r>
                      <a:endParaRPr sz="1200" b="1">
                        <a:solidFill>
                          <a:srgbClr val="1732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0.66BaTiO3–0.33CoFe2O4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磁性 Tc / 结构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720 K：随机混合结构；746 K：三层结构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原文证据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... ranges from 720 K in the randomly mixed structure to 746 K for the layered one.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审核结论</a:t>
                      </a:r>
                      <a:endParaRPr sz="1200" b="1">
                        <a:solidFill>
                          <a:srgbClr val="1732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45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ACCEPT：组成、结构与 Tc 对应正确，两条 Fact 分别保留</a:t>
                      </a:r>
                    </a:p>
                  </a:txBody>
                  <a:tcPr marL="95250" marR="95250" marT="66675" marB="66675" anchor="ctr">
                    <a:solidFill>
                      <a:srgbClr val="EAF5EF"/>
                    </a:solidFill>
                  </a:tcPr>
                </a:tc>
              </a:tr>
            </a:tbl>
          </a:graphicData>
        </a:graphic>
      </p:graphicFrame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408D5058-2E9B-4DD7-9B47-D51CEAE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95900"/>
            <a:ext cx="7410450" cy="5715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同一组成对应不同结构与 Tc；保留结构条件，避免合并为同一条记录。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587060-2BD4-4AF0-9417-46EB851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6BC7AB5-D46E-4767-9403-3129A08F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3927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8DE0F-A8C6-4DF9-84C7-6E03AF3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InstSci 文献获取与全文访问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7AD9-915C-4933-AF9F-4D3A8D17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浏览器下载已验证，全文 API 授权与 ComProScanner 自动衔接仍待完成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0A73F-1CFE-4311-B3AE-A5732D3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已验证的浏览器下载流程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D9AF1-548D-4378-9A33-5F14B89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DOI → ScienceDirect → 复用机构访问会话 → 自动捕获 PDF → 文件核验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911A4-7622-44C2-94A6-1DBAD964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出版社域名直连；登录或验证需要时人工介入，随后由工作流继续下载。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990850"/>
          <a:ext xmlns:a="http://schemas.openxmlformats.org/drawingml/2006/main" cx="11049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809750"/>
                <a:gridCol w="6715125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 / 通道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已确认的范围</a:t>
                      </a:r>
                    </a:p>
                  </a:txBody>
                  <a:tcPr marL="114300" marR="114300" marT="66675" marB="66675" anchor="ctr">
                    <a:solidFill>
                      <a:srgbClr val="17324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InstSci MCP + Skill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安装完成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个工具可识别，握手及只读调用通过</a:t>
                      </a:r>
                    </a:p>
                  </a:txBody>
                  <a:tcPr marL="114300" marR="114300" marT="66675" marB="66675" anchor="ctr"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 PDF 下载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单篇成功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自动保存并核对 DOI、标题；11 页，约 12 MB</a:t>
                      </a:r>
                    </a:p>
                  </a:txBody>
                  <a:tcPr marL="114300" marR="114300" marT="66675" marB="66675" anchor="ctr"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Scopus 搜索 API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200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同一把 Key 可检索文献</a:t>
                      </a:r>
                    </a:p>
                  </a:txBody>
                  <a:tcPr marL="114300" marR="114300" marT="66675" marB="66675" anchor="ctr"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ScienceDirect 全文 API</a:t>
                      </a:r>
                    </a:p>
                  </a:txBody>
                  <a:tcPr marL="114300" marR="11430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403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全文接口授权仍待 Elsevier 核查</a:t>
                      </a:r>
                    </a:p>
                  </a:txBody>
                  <a:tcPr marL="114300" marR="114300" marT="66675" marB="66675" anchor="ctr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F7188-2AF1-4B9C-923D-38933F8C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下载验证 DOI：10.1016/j.watres.2024.121507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BB2AB-929A-482D-A5C2-ACA2F38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下一步：将获取的全文交给 ComProScanner 解析；初期约 500 篇为申请估算，尚未获批。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0247E-EF08-4AAD-AC0B-9EFAE29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F5B82-6DE5-44E9-B227-C385DB3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6415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2026-09-05T09:19:35.4570000Z</dcterms:created>
  <dcterms:modified xsi:type="dcterms:W3CDTF">2026-09-05T09:19:35.4570000Z</dcterms:modified>
</coreProperties>
</file>