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68b2616e654aa2" /><Relationship Type="http://schemas.openxmlformats.org/officeDocument/2006/relationships/extended-properties" Target="/docProps/app.xml" Id="Rb2c2be1b848542f4" /><Relationship Type="http://schemas.openxmlformats.org/officeDocument/2006/relationships/officeDocument" Target="/ppt/presentation.xml" Id="R3a175fb5332040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3edf4f568648eb"/>
  </p:sldMasterIdLst>
  <p:notesMasterIdLst>
    <p:notesMasterId xmlns:r="http://schemas.openxmlformats.org/officeDocument/2006/relationships" r:id="R5160053dce054549"/>
  </p:notesMasterIdLst>
  <p:sldIdLst>
    <p:sldId xmlns:r="http://schemas.openxmlformats.org/officeDocument/2006/relationships" id="256" r:id="R9507ba97665e4868"/>
    <p:sldId xmlns:r="http://schemas.openxmlformats.org/officeDocument/2006/relationships" id="257" r:id="R34440af766e548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c99d34e45040b4" /><Relationship Type="http://schemas.openxmlformats.org/officeDocument/2006/relationships/slideMaster" Target="/ppt/slideMasters/slideMaster1.xml" Id="Reb3edf4f568648eb" /><Relationship Type="http://schemas.openxmlformats.org/officeDocument/2006/relationships/notesMaster" Target="/ppt/notesMasters/notesMaster1.xml" Id="R5160053dce054549" /><Relationship Type="http://schemas.openxmlformats.org/officeDocument/2006/relationships/presProps" Target="/ppt/presProps.xml" Id="Rdf5bad8c1ecc4e30" /><Relationship Type="http://schemas.openxmlformats.org/officeDocument/2006/relationships/viewProps" Target="/ppt/viewProps.xml" Id="R94e0b0dc6a7a4b6a" /><Relationship Type="http://schemas.openxmlformats.org/officeDocument/2006/relationships/tableStyles" Target="/ppt/tableStyles.xml" Id="Rde9525936af642ce" /><Relationship Type="http://schemas.openxmlformats.org/officeDocument/2006/relationships/slide" Target="/ppt/slides/slide1.xml" Id="R9507ba97665e4868" /><Relationship Type="http://schemas.openxmlformats.org/officeDocument/2006/relationships/slide" Target="/ppt/slides/slide2.xml" Id="R34440af766e548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6d91e150954b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e84acd98d14f71" /><Relationship Type="http://schemas.openxmlformats.org/officeDocument/2006/relationships/notesMaster" Target="/ppt/notesMasters/notesMaster1.xml" Id="R30f9651c929e46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cdf7984ee64355" /><Relationship Type="http://schemas.openxmlformats.org/officeDocument/2006/relationships/notesMaster" Target="/ppt/notesMasters/notesMaster1.xml" Id="R3400561d29cf43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五个入口指 rule_text、physbert、table、equation、figure。规则与 PhysBERT 最终合并为同一 TextEvidence 类型。图片接口存在，但本轮 30 篇正式评估未启用 VLM。来源：项目 README、docs/architecture.md、docs/evidence.md。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Review 正确案例：Paper 4，DOI 10.1016/j.jallcom.2019.05.068。来源：outputs/runs/tc_fulltext_001_030_20260904/predictions.json，material_reported=0.66BaTiO3-0.33CoFe2O4，720 K 的 conditions.phase_arrangement=randomly mixed phases，746 K 的 conditions.phase_arrangement=tri-layer/layered structure；共同 evidence_id=10_1016_j_jallcom_2019_05_068_FULL_TEXT_0003_TEXT。Gold：outputs/gold/tc_001_030/gold_facts.json，Paper 4，两条均 ACCEPTED、current_work、page 1。原文明确给出相同组成 0.66BaTiO3-0.33CoFe2O4，随机混合与三层结构的磁性 Curie 温度分别为 720 K、746 K。本页 ACCEPT 为依据原文及已接受 Gold 核对后的展示结论。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2244e19c0747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d8ed41d2064f5a" /><Relationship Type="http://schemas.openxmlformats.org/officeDocument/2006/relationships/slideLayout" Target="/ppt/slideLayouts/slideLayout1.xml" Id="R9478a64a122645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78a64a122645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9c6430c1c94d5f" /><Relationship Type="http://schemas.openxmlformats.org/officeDocument/2006/relationships/notesSlide" Target="/ppt/notesSlides/notesSlide1.xml" Id="Rf73de27316064f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9665499e114e35" /><Relationship Type="http://schemas.openxmlformats.org/officeDocument/2006/relationships/notesSlide" Target="/ppt/notesSlides/notesSlide2.xml" Id="R390fd638c2b84a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492C5A95-26CC-453C-912B-E50F30C3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统一的模块化抽取主链路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8B44935-6924-44E1-A983-21489B20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rPr>
              <a:t>所有输入先成为 Article，所有候选都成为 Evidence，所有结果都成为 Fact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24C9200-5FF7-4E93-A74F-24383D34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A7C5"/>
          </a:solidFill>
          <a:ln xmlns:a="http://schemas.openxmlformats.org/drawingml/2006/main" w="0">
            <a:solidFill>
              <a:srgbClr val="49A7C5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: 圆角 3">
            <a:extLst xmlns:a="http://schemas.openxmlformats.org/drawingml/2006/main">
              <a:ext uri="{FF2B5EF4-FFF2-40B4-BE49-F238E27FC236}">
                <a16:creationId xmlns:a16="http://schemas.microsoft.com/office/drawing/2014/main" id="{54ABBDBA-A374-4E99-B0A7-E83A184D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4668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7D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本地 PDF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API 下载 PDF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出版商 XML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E5343D3-69C3-4AEA-928E-12B27959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文献输入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E3A7601-54ED-4B2E-BCF6-7E71261C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181225"/>
            <a:ext cx="13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49A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49A7C5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E5FD2628-2DCC-4EAF-9CBA-4821AEB0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52600"/>
            <a:ext cx="14668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7D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全文与来源统一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paper_id / DOI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路径与文件哈希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23765EF-5232-47F4-871E-6979851A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4287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Article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2C6238D-5FD1-4949-9C39-49F28F93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81225"/>
            <a:ext cx="13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49A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49A7C5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195507D3-C76B-400B-B2AE-FBD8DAFD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752600"/>
            <a:ext cx="14668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7D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全文只切分一次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规则与向量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共享 chunk_id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723E5B66-0B6C-448D-922C-CFB1B90D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4287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TextChunk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385FFE2-4128-4057-9C52-CD7D0216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81225"/>
            <a:ext cx="13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49A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49A7C5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4D31283D-3C44-4222-923E-A9C81A9B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52600"/>
            <a:ext cx="14668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11430">
            <a:solidFill>
              <a:srgbClr val="17324D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五个可插拔入口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保留原文与来源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636A8F2-2C8B-463A-A1C0-F6A7919D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4287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F6F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6F9F"/>
                </a:solidFill>
                <a:latin typeface="Microsoft YaHei"/>
                <a:ea typeface="Microsoft YaHei"/>
                <a:cs typeface="Microsoft YaHei"/>
              </a:rPr>
              <a:t>Evidence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05F97AE-852C-4D77-9FD2-2F1693C8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81225"/>
            <a:ext cx="13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49A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49A7C5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AF2FC038-0D81-4CEF-9BC5-8EFDE129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52600"/>
            <a:ext cx="14668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7D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筛选抽取</a:t>
            </a:r>
            <a:endParaRPr sz="1275" b="0">
              <a:solidFill>
                <a:srgbClr val="1721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280405E-A92B-4B75-8C17-012FB084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287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761B1A9A-D777-4DE9-B0E8-7D85B251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81225"/>
            <a:ext cx="13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49A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49A7C5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9" name="矩形: 圆角 18">
            <a:extLst xmlns:a="http://schemas.openxmlformats.org/drawingml/2006/main">
              <a:ext uri="{FF2B5EF4-FFF2-40B4-BE49-F238E27FC236}">
                <a16:creationId xmlns:a16="http://schemas.microsoft.com/office/drawing/2014/main" id="{F3735769-C19A-4C00-B023-3612B7BA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52600"/>
            <a:ext cx="14668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7D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材料 + Tc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证据关联与合并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C9F37321-04E6-4FBF-9F1F-11FA3B7E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4287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Fact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483CB47D-F4CB-4FB6-9733-450BBF13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181225"/>
            <a:ext cx="13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49A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49A7C5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2" name="矩形: 圆角 21">
            <a:extLst xmlns:a="http://schemas.openxmlformats.org/drawingml/2006/main">
              <a:ext uri="{FF2B5EF4-FFF2-40B4-BE49-F238E27FC236}">
                <a16:creationId xmlns:a16="http://schemas.microsoft.com/office/drawing/2014/main" id="{6A62A6E4-2F20-4DF1-AB8B-E7AEC0D7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752600"/>
            <a:ext cx="14668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7D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人工审核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Gold 与指标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C5E1D253-2408-4897-94A7-1BC8E3D0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4287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Review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D282D1B2-ABD0-4193-BAA2-14C4D1B9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7185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Evidence 层把工具差异封装起来</a:t>
            </a:r>
          </a:p>
        </p:txBody>
      </p:sp>
      <p:sp>
        <p:nvSpPr>
          <p:cNvPr id="25" name="矩形: 圆角 24">
            <a:extLst xmlns:a="http://schemas.openxmlformats.org/drawingml/2006/main">
              <a:ext uri="{FF2B5EF4-FFF2-40B4-BE49-F238E27FC236}">
                <a16:creationId xmlns:a16="http://schemas.microsoft.com/office/drawing/2014/main" id="{8B1B5623-A9AC-4E02-A828-51A33B35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48100"/>
            <a:ext cx="20383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11430">
            <a:solidFill>
              <a:srgbClr val="49A7C5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① 规则文本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关键词与数值模式</a:t>
            </a:r>
          </a:p>
        </p:txBody>
      </p:sp>
      <p:sp>
        <p:nvSpPr>
          <p:cNvPr id="26" name="矩形: 圆角 25">
            <a:extLst xmlns:a="http://schemas.openxmlformats.org/drawingml/2006/main">
              <a:ext uri="{FF2B5EF4-FFF2-40B4-BE49-F238E27FC236}">
                <a16:creationId xmlns:a16="http://schemas.microsoft.com/office/drawing/2014/main" id="{FFFA4D26-D281-486D-BA95-9A9E8C33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848100"/>
            <a:ext cx="20383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11430">
            <a:solidFill>
              <a:srgbClr val="49A7C5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② PhysBERT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语义向量检索</a:t>
            </a:r>
          </a:p>
        </p:txBody>
      </p:sp>
      <p:sp>
        <p:nvSpPr>
          <p:cNvPr id="27" name="矩形: 圆角 26">
            <a:extLst xmlns:a="http://schemas.openxmlformats.org/drawingml/2006/main">
              <a:ext uri="{FF2B5EF4-FFF2-40B4-BE49-F238E27FC236}">
                <a16:creationId xmlns:a16="http://schemas.microsoft.com/office/drawing/2014/main" id="{9D0B4215-CAF3-4C79-9F8B-560FAA4D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848100"/>
            <a:ext cx="20383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7D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③ 表格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表题、表头、数据行</a:t>
            </a:r>
          </a:p>
        </p:txBody>
      </p:sp>
      <p:sp>
        <p:nvSpPr>
          <p:cNvPr id="28" name="矩形: 圆角 27">
            <a:extLst xmlns:a="http://schemas.openxmlformats.org/drawingml/2006/main">
              <a:ext uri="{FF2B5EF4-FFF2-40B4-BE49-F238E27FC236}">
                <a16:creationId xmlns:a16="http://schemas.microsoft.com/office/drawing/2014/main" id="{A892C33B-2172-48BD-A85F-1CC5FDF6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848100"/>
            <a:ext cx="20383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7D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④ 公式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公式与附近解释</a:t>
            </a:r>
          </a:p>
        </p:txBody>
      </p:sp>
      <p:sp>
        <p:nvSpPr>
          <p:cNvPr id="29" name="矩形: 圆角 28">
            <a:extLst xmlns:a="http://schemas.openxmlformats.org/drawingml/2006/main">
              <a:ext uri="{FF2B5EF4-FFF2-40B4-BE49-F238E27FC236}">
                <a16:creationId xmlns:a16="http://schemas.microsoft.com/office/drawing/2014/main" id="{2FAF475B-8459-41E7-8FC9-7E7E1ECD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848100"/>
            <a:ext cx="20383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7D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⑤ 图片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图注、附近原文、VLM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9C6A93CA-36BB-454A-B4ED-AC6735D3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规则文本与 PhysBERT 是两个检索入口，但命中同一 chunk 时只生成一条 TextEvidence。表格、公式和图片使用相同 Evidence 契约，因此新增工具不需要复制主流程。</a:t>
            </a:r>
          </a:p>
        </p:txBody>
      </p:sp>
      <p:sp>
        <p:nvSpPr>
          <p:cNvPr id="31" name="矩形: 圆角 30">
            <a:extLst xmlns:a="http://schemas.openxmlformats.org/drawingml/2006/main">
              <a:ext uri="{FF2B5EF4-FFF2-40B4-BE49-F238E27FC236}">
                <a16:creationId xmlns:a16="http://schemas.microsoft.com/office/drawing/2014/main" id="{6936C2DA-C645-49EE-9246-C4CBD863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48350"/>
            <a:ext cx="11049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11430">
            <a:solidFill>
              <a:srgbClr val="17324D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输入源、检索方法、模型与性质配置可以独立替换，原文证据始终贯穿到最终数据库</a:t>
            </a:r>
            <a:endParaRPr sz="1575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86DD15A4-612A-4823-96BF-4C66F296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rPr>
              <a:t>基于 ComProScanner 的证据驱动式改造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29E4F49B-EA3E-478F-BD0E-D115238F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515460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CB6DF48-EDBF-4C6C-A3F8-F7D2186D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Evidence 让抽取结果可以直接审核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3FD3BA3-CC0B-4986-8C42-89AA12D8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rPr>
              <a:t>模型输出不再脱离原文，审核人员可以接受、拒绝或修改每条</a:t>
            </a:r>
            <a:r>
              <a:rPr sz="1275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rPr>
              <a:t> Fact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E740A28-4FFE-4FD1-BD43-4CDB9283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A7C5"/>
          </a:solidFill>
          <a:ln xmlns:a="http://schemas.openxmlformats.org/drawingml/2006/main" w="0">
            <a:solidFill>
              <a:srgbClr val="49A7C5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B584F6E-4A17-44CD-806C-7ADD2C74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335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一条 Fact 的信息链</a:t>
            </a:r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C1E1F4A7-19DA-4CD7-A303-0C1FB53E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3143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11430">
            <a:solidFill>
              <a:srgbClr val="49A7C5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原文 Evidence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完整连续文本 + source_id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920E3B7-F3E7-4152-B7F3-2E96A54D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6860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49A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49A7C5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1E10A2E9-7ECC-4CD5-92B9-EE3BB858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0"/>
            <a:ext cx="3143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F6F9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LLM 抽取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材料、Tc、单位、限定词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751D616-8877-4180-8C24-DA29D2F5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8100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49A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49A7C5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EF917ECF-E1ED-4BAD-87CC-25C2C6B9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3143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F6F9F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Fact 合并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保留全部 evidence_id 与原始写法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EB7EE7E-C6DE-49A2-8ADA-A0E8151D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9339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49A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49A7C5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1F4247B0-9F1B-4A81-9AD0-92BFF8F9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95900"/>
            <a:ext cx="3143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11430">
            <a:solidFill>
              <a:srgbClr val="17324D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Review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ACCEPT / REJECT / MODIFY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E9D5659-1D2C-45F9-80FA-5E4038D7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466850"/>
            <a:ext cx="7410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Review 示例：Paper 4 · 复合材料</a:t>
            </a:r>
          </a:p>
        </p:txBody>
      </p:sp>
      <p:graphicFrame>
        <p:nvGraphicFramePr>
          <p:cNvPr id="31" name="表格 28"/>
          <p:cNvGraphicFramePr/>
          <p:nvPr/>
        </p:nvGraphicFramePr>
        <p:xfrm>
          <a:off xmlns:a="http://schemas.openxmlformats.org/drawingml/2006/main" x="4210050" y="1924050"/>
          <a:ext xmlns:a="http://schemas.openxmlformats.org/drawingml/2006/main" cx="7410450" cy="28194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657350"/>
                <a:gridCol w="5753100"/>
              </a:tblGrid>
              <a:tr h="56388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审核内容</a:t>
                      </a:r>
                      <a:endParaRPr sz="1275" b="1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模型材料</a:t>
                      </a:r>
                      <a:endParaRPr sz="1200" b="1">
                        <a:solidFill>
                          <a:srgbClr val="17324D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0.66BaTiO3–0.33CoFe2O4</a:t>
                      </a:r>
                    </a:p>
                  </a:txBody>
                  <a:tcPr marL="95250" marR="95250" marT="66675" marB="66675" anchor="ctr"/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磁性 Tc / 结构</a:t>
                      </a:r>
                    </a:p>
                  </a:txBody>
                  <a:tcPr marL="95250" marR="95250" marT="66675" marB="66675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720 K：随机混合结构；746 K：三层结构</a:t>
                      </a:r>
                    </a:p>
                  </a:txBody>
                  <a:tcPr marL="95250" marR="95250" marT="66675" marB="66675" anchor="ctr"/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原文证据</a:t>
                      </a:r>
                    </a:p>
                  </a:txBody>
                  <a:tcPr marL="95250" marR="95250" marT="66675" marB="66675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... ranges from 720 K in the randomly mixed structure to 746 K for the layered one.</a:t>
                      </a:r>
                    </a:p>
                  </a:txBody>
                  <a:tcPr marL="95250" marR="95250" marT="66675" marB="66675" anchor="ctr"/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审核结论</a:t>
                      </a:r>
                      <a:endParaRPr sz="1200" b="1">
                        <a:solidFill>
                          <a:srgbClr val="17324D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A45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ACCEPT：组成、结构与 Tc 对应正确，两条 Fact 分别保留</a:t>
                      </a:r>
                    </a:p>
                  </a:txBody>
                  <a:tcPr marL="95250" marR="95250" marT="66675" marB="66675" anchor="ctr">
                    <a:solidFill>
                      <a:srgbClr val="EAF5EF"/>
                    </a:solidFill>
                  </a:tcPr>
                </a:tc>
              </a:tr>
            </a:tbl>
          </a:graphicData>
        </a:graphic>
      </p:graphicFrame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408D5058-2E9B-4DD7-9B47-D51CEAE7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295900"/>
            <a:ext cx="7410450" cy="57150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8FAFB"/>
          </a:solidFill>
          <a:ln xmlns:a="http://schemas.openxmlformats.org/drawingml/2006/main" w="11430">
            <a:solidFill>
              <a:srgbClr val="CBD7D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同一组成对应不同结构与 Tc；保留结构条件，避免合并为同一条记录。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1587060-2BD4-4AF0-9417-46EB8514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rPr>
              <a:t>基于 ComProScanner 的证据驱动式改造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6BC7AB5-D46E-4767-9403-3129A08F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28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839278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2026-09-05T09:13:30.0620000Z</dcterms:created>
  <dcterms:modified xsi:type="dcterms:W3CDTF">2026-09-05T09:13:30.0620000Z</dcterms:modified>
</coreProperties>
</file>