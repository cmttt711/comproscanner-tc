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3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论文数</c:v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Lit>
              <c:ptCount val="3"/>
              <c:pt idx="0">
                <c:v>有Tc输出</c:v>
              </c:pt>
              <c:pt idx="1">
                <c:v>空结果</c:v>
              </c:pt>
              <c:pt idx="2">
                <c:v>预筛拒绝</c:v>
              </c:pt>
            </c:strLit>
          </c:cat>
          <c:val>
            <c:numLit>
              <c:formatCode>General</c:formatCode>
              <c:ptCount val="3"/>
              <c:pt idx="0">
                <c:v>51</c:v>
              </c:pt>
              <c:pt idx="1">
                <c:v>15</c:v>
              </c:pt>
              <c:pt idx="2">
                <c:v>34</c:v>
              </c:pt>
            </c:numLit>
          </c:val>
          <c:extLst>
            <c:ext xmlns:c16="http://schemas.microsoft.com/office/drawing/2014/chart" uri="{C3380CC4-5D6E-409C-BE32-E72D297353CC}">
              <c16:uniqueId val="{00000000-B268-45D7-A8D8-DE5106C6F14A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firstSliceAng val="0"/>
        <c:holeSize val="0"/>
      </c:doughnutChart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docs/architecture.md</a:t>
            </a:r>
          </a:p>
          <a:p>
            <a:r>
              <a:t>src/comproscanner/presets/curie_temperature.py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src/comproscanner/utils/candidate_context.py</a:t>
            </a:r>
          </a:p>
          <a:p>
            <a:r>
              <a:t>src/comproscanner/utils/data_preparator.py</a:t>
            </a:r>
          </a:p>
          <a:p>
            <a:r>
              <a:t>scripts/run_tc_hybrid_qwen_30.py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outputs/tc_hybrid_qwen_001_030/predictions_001_100.json</a:t>
            </a:r>
          </a:p>
          <a:p>
            <a:r>
              <a:t>outputs/tc_hybrid_qwen_001_030/strict_metrics_001_030.json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scripts/discover_tc_scopus_candidates.py</a:t>
            </a:r>
          </a:p>
          <a:p>
            <a:r>
              <a:t>scripts/download_tc_oa_shortlist.py</a:t>
            </a:r>
          </a:p>
          <a:p>
            <a:r>
              <a:t>scripts/recover_oa_via_openalex.py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outputs/literature_discovery/tc_scopus_2020_2026/oa_downloads/download_summary.json</a:t>
            </a:r>
          </a:p>
          <a:p>
            <a:r>
              <a:t>outputs/literature_discovery/tc_scopus_2020_2026/oa_downloads/download_manifest.json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AEDD278B-6134-4C0E-AB81-069A6EC0E1E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endParaRPr sz="1050" b="1" dirty="0">
              <a:solidFill>
                <a:srgbClr val="3D8DFF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AA6F77-F622-4DD1-AE43-83EF46E8E09C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原框架保留主干，我的工作集中在Tc适配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C9AAEB-38C5-48B0-A77B-F26B72756A59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B8C0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6188C32-2229-48C2-B989-0E3761168ED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2065020" cy="7429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FA920B-17A7-4B96-B968-2F272C579E69}"/>
              </a:ext>
            </a:extLst>
          </p:cNvPr>
          <p:cNvSpPr>
            <a:spLocks noGrp="1"/>
          </p:cNvSpPr>
          <p:nvPr/>
        </p:nvSpPr>
        <p:spPr>
          <a:xfrm>
            <a:off x="685800" y="1876425"/>
            <a:ext cx="191262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论文检索/全文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18287D-B39D-4B3C-8803-D11CB531B9A5}"/>
              </a:ext>
            </a:extLst>
          </p:cNvPr>
          <p:cNvSpPr>
            <a:spLocks noGrp="1"/>
          </p:cNvSpPr>
          <p:nvPr/>
        </p:nvSpPr>
        <p:spPr>
          <a:xfrm>
            <a:off x="2674620" y="2000250"/>
            <a:ext cx="161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7A1545F-180D-4E21-8D4D-3406D584B9C2}"/>
              </a:ext>
            </a:extLst>
          </p:cNvPr>
          <p:cNvSpPr>
            <a:spLocks noGrp="1"/>
          </p:cNvSpPr>
          <p:nvPr/>
        </p:nvSpPr>
        <p:spPr>
          <a:xfrm>
            <a:off x="2836545" y="1809750"/>
            <a:ext cx="2065020" cy="742950"/>
          </a:xfrm>
          <a:prstGeom prst="roundRect">
            <a:avLst>
              <a:gd name="adj" fmla="val 15385"/>
            </a:avLst>
          </a:prstGeom>
          <a:solidFill>
            <a:srgbClr val="DFF3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1C3186-AE50-48BA-A7F2-425B852585B9}"/>
              </a:ext>
            </a:extLst>
          </p:cNvPr>
          <p:cNvSpPr>
            <a:spLocks noGrp="1"/>
          </p:cNvSpPr>
          <p:nvPr/>
        </p:nvSpPr>
        <p:spPr>
          <a:xfrm>
            <a:off x="2912745" y="1876425"/>
            <a:ext cx="191262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章节规范化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AD0880-6A10-4A4F-9AF1-BC3775EAB659}"/>
              </a:ext>
            </a:extLst>
          </p:cNvPr>
          <p:cNvSpPr>
            <a:spLocks noGrp="1"/>
          </p:cNvSpPr>
          <p:nvPr/>
        </p:nvSpPr>
        <p:spPr>
          <a:xfrm>
            <a:off x="4901565" y="2000250"/>
            <a:ext cx="161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B423051-D5E7-4974-91F4-5B6BD917DF96}"/>
              </a:ext>
            </a:extLst>
          </p:cNvPr>
          <p:cNvSpPr>
            <a:spLocks noGrp="1"/>
          </p:cNvSpPr>
          <p:nvPr/>
        </p:nvSpPr>
        <p:spPr>
          <a:xfrm>
            <a:off x="5063490" y="1809750"/>
            <a:ext cx="2065020" cy="7429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A53B00-4145-41B8-BD35-73D973E7ED8C}"/>
              </a:ext>
            </a:extLst>
          </p:cNvPr>
          <p:cNvSpPr>
            <a:spLocks noGrp="1"/>
          </p:cNvSpPr>
          <p:nvPr/>
        </p:nvSpPr>
        <p:spPr>
          <a:xfrm>
            <a:off x="5139690" y="1876425"/>
            <a:ext cx="191262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候选定位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7B87CA-E720-4936-9955-4C082ED00CA7}"/>
              </a:ext>
            </a:extLst>
          </p:cNvPr>
          <p:cNvSpPr>
            <a:spLocks noGrp="1"/>
          </p:cNvSpPr>
          <p:nvPr/>
        </p:nvSpPr>
        <p:spPr>
          <a:xfrm>
            <a:off x="7128510" y="2000250"/>
            <a:ext cx="161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4323042-ACB6-4826-80A5-58345A6FFA8E}"/>
              </a:ext>
            </a:extLst>
          </p:cNvPr>
          <p:cNvSpPr>
            <a:spLocks noGrp="1"/>
          </p:cNvSpPr>
          <p:nvPr/>
        </p:nvSpPr>
        <p:spPr>
          <a:xfrm>
            <a:off x="7290435" y="1809750"/>
            <a:ext cx="2065020" cy="742950"/>
          </a:xfrm>
          <a:prstGeom prst="roundRect">
            <a:avLst>
              <a:gd name="adj" fmla="val 15385"/>
            </a:avLst>
          </a:prstGeom>
          <a:solidFill>
            <a:srgbClr val="DFF3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4BF84E-35C7-4E6C-942B-42EC64FC915F}"/>
              </a:ext>
            </a:extLst>
          </p:cNvPr>
          <p:cNvSpPr>
            <a:spLocks noGrp="1"/>
          </p:cNvSpPr>
          <p:nvPr/>
        </p:nvSpPr>
        <p:spPr>
          <a:xfrm>
            <a:off x="7366635" y="1876425"/>
            <a:ext cx="191262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多Agent抽取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296829-6CF6-4C8C-859C-03704932C5A3}"/>
              </a:ext>
            </a:extLst>
          </p:cNvPr>
          <p:cNvSpPr>
            <a:spLocks noGrp="1"/>
          </p:cNvSpPr>
          <p:nvPr/>
        </p:nvSpPr>
        <p:spPr>
          <a:xfrm>
            <a:off x="9355455" y="2000250"/>
            <a:ext cx="161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40997CD-E7AC-4130-914F-8D2BC119023A}"/>
              </a:ext>
            </a:extLst>
          </p:cNvPr>
          <p:cNvSpPr>
            <a:spLocks noGrp="1"/>
          </p:cNvSpPr>
          <p:nvPr/>
        </p:nvSpPr>
        <p:spPr>
          <a:xfrm>
            <a:off x="9517380" y="1809750"/>
            <a:ext cx="2065020" cy="7429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3FF25BF-8882-4F0C-8A24-5136AF234BB4}"/>
              </a:ext>
            </a:extLst>
          </p:cNvPr>
          <p:cNvSpPr>
            <a:spLocks noGrp="1"/>
          </p:cNvSpPr>
          <p:nvPr/>
        </p:nvSpPr>
        <p:spPr>
          <a:xfrm>
            <a:off x="9593580" y="1876425"/>
            <a:ext cx="191262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JSON/评价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33CA4A-0C38-4C8F-99D1-0A2BB0A4DA6F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原始ComProScanner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88C50BA-B982-4490-ACCD-EBBDDB730A12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20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6ACEE9A-D2F3-4E6C-B98B-5BDF403A8055}"/>
              </a:ext>
            </a:extLst>
          </p:cNvPr>
          <p:cNvSpPr>
            <a:spLocks noGrp="1"/>
          </p:cNvSpPr>
          <p:nvPr/>
        </p:nvSpPr>
        <p:spPr>
          <a:xfrm>
            <a:off x="857250" y="3667125"/>
            <a:ext cx="4038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多出版社TDM与本地PDF入口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8426E62-49A7-4A4E-B318-F681D0B66C55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20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788A813-671D-445F-BBBA-FD57929027FB}"/>
              </a:ext>
            </a:extLst>
          </p:cNvPr>
          <p:cNvSpPr>
            <a:spLocks noGrp="1"/>
          </p:cNvSpPr>
          <p:nvPr/>
        </p:nvSpPr>
        <p:spPr>
          <a:xfrm>
            <a:off x="857250" y="4171950"/>
            <a:ext cx="422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组成—性质关系抽取与清洗评价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F145D03-C173-47B7-9434-83F2D09922CD}"/>
              </a:ext>
            </a:extLst>
          </p:cNvPr>
          <p:cNvSpPr>
            <a:spLocks noGrp="1"/>
          </p:cNvSpPr>
          <p:nvPr/>
        </p:nvSpPr>
        <p:spPr>
          <a:xfrm>
            <a:off x="5905500" y="3095625"/>
            <a:ext cx="5334000" cy="1809750"/>
          </a:xfrm>
          <a:prstGeom prst="rect">
            <a:avLst/>
          </a:prstGeom>
          <a:solidFill>
            <a:srgbClr val="DFF3F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72939FB-3C75-410B-ACF8-B3F98C981102}"/>
              </a:ext>
            </a:extLst>
          </p:cNvPr>
          <p:cNvSpPr>
            <a:spLocks noGrp="1"/>
          </p:cNvSpPr>
          <p:nvPr/>
        </p:nvSpPr>
        <p:spPr>
          <a:xfrm>
            <a:off x="6191250" y="331470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当前Tc改造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5B55F83-6023-4CE7-BBAD-2B26FD55AF02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0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D097664-F54B-48CB-9926-F8E549EB4457}"/>
              </a:ext>
            </a:extLst>
          </p:cNvPr>
          <p:cNvSpPr>
            <a:spLocks noGrp="1"/>
          </p:cNvSpPr>
          <p:nvPr/>
        </p:nvSpPr>
        <p:spPr>
          <a:xfrm>
            <a:off x="6438900" y="3810000"/>
            <a:ext cx="4038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Tc preset与高召回候选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83B5393-5732-4C9D-ACD7-C7DA1FFA9524}"/>
              </a:ext>
            </a:extLst>
          </p:cNvPr>
          <p:cNvSpPr>
            <a:spLocks noGrp="1"/>
          </p:cNvSpPr>
          <p:nvPr/>
        </p:nvSpPr>
        <p:spPr>
          <a:xfrm>
            <a:off x="6191250" y="4305300"/>
            <a:ext cx="20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BE17DE6-66C7-46C0-9814-96E7D1E625FB}"/>
              </a:ext>
            </a:extLst>
          </p:cNvPr>
          <p:cNvSpPr>
            <a:spLocks noGrp="1"/>
          </p:cNvSpPr>
          <p:nvPr/>
        </p:nvSpPr>
        <p:spPr>
          <a:xfrm>
            <a:off x="6438900" y="4305300"/>
            <a:ext cx="432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DOI可选、NUL修复、180 s隔离运行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700C9F1-AFB3-4C43-90B9-78A210C738E3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10972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原则：不复制整套系统，只扩展属性策略和运行支持。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578BBAE-457F-46CF-B659-6D1B9FD0F874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8A96A3"/>
                </a:solidFill>
              </a:defRPr>
            </a:pPr>
            <a:r>
              <a:rPr sz="900" b="1">
                <a:solidFill>
                  <a:srgbClr val="8A96A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16845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D036B4-05E9-49BC-AECA-05730B4616D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lang="zh-CN" altLang="en-US" sz="2850" b="1" dirty="0">
                <a:solidFill>
                  <a:srgbClr val="111827"/>
                </a:solidFill>
              </a:rPr>
              <a:t>三项关键改动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F60D40-F86B-4324-899C-2A44EAEC7FB4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B8C0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470D3E-C722-427F-8792-5EDA97225C28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3333750" cy="2857500"/>
          </a:xfrm>
          <a:prstGeom prst="rect">
            <a:avLst/>
          </a:prstGeom>
          <a:solidFill>
            <a:srgbClr val="EDF1F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6A859D-0191-4CD3-8366-75A3351C929F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① PhysBERT补充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EB5A2D-0F89-4A06-ADEF-496689710BCB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2762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规则候选始终保留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向量检索只追加相关片段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检索失败退回规则文本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459FEC-F4C9-46B3-9542-106CF571DE5E}"/>
              </a:ext>
            </a:extLst>
          </p:cNvPr>
          <p:cNvSpPr>
            <a:spLocks noGrp="1"/>
          </p:cNvSpPr>
          <p:nvPr/>
        </p:nvSpPr>
        <p:spPr>
          <a:xfrm>
            <a:off x="857250" y="40481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D8A62"/>
                </a:solidFill>
              </a:defRPr>
            </a:pPr>
            <a:r>
              <a:rPr sz="1350" b="1">
                <a:solidFill>
                  <a:srgbClr val="2D8A62"/>
                </a:solidFill>
              </a:rPr>
              <a:t>additive + fail-open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0C810E-D809-475B-B66A-630F300840B9}"/>
              </a:ext>
            </a:extLst>
          </p:cNvPr>
          <p:cNvSpPr>
            <a:spLocks noGrp="1"/>
          </p:cNvSpPr>
          <p:nvPr/>
        </p:nvSpPr>
        <p:spPr>
          <a:xfrm>
            <a:off x="4429125" y="1714500"/>
            <a:ext cx="3333750" cy="2857500"/>
          </a:xfrm>
          <a:prstGeom prst="rect">
            <a:avLst/>
          </a:prstGeom>
          <a:solidFill>
            <a:srgbClr val="DFF3F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C9103B-59A4-46D9-A336-12C1A2C0BE43}"/>
              </a:ext>
            </a:extLst>
          </p:cNvPr>
          <p:cNvSpPr>
            <a:spLocks noGrp="1"/>
          </p:cNvSpPr>
          <p:nvPr/>
        </p:nvSpPr>
        <p:spPr>
          <a:xfrm>
            <a:off x="4676775" y="1952625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② 命中句 ±1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D80D89-1048-445C-A0E2-7FE00808790A}"/>
              </a:ext>
            </a:extLst>
          </p:cNvPr>
          <p:cNvSpPr>
            <a:spLocks noGrp="1"/>
          </p:cNvSpPr>
          <p:nvPr/>
        </p:nvSpPr>
        <p:spPr>
          <a:xfrm>
            <a:off x="4676775" y="2571750"/>
            <a:ext cx="2762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前一句：材料/样品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命中句：Tc数值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后一句：单位/条件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1544E0-7417-452C-BB29-CCB3DB4F9E3E}"/>
              </a:ext>
            </a:extLst>
          </p:cNvPr>
          <p:cNvSpPr>
            <a:spLocks noGrp="1"/>
          </p:cNvSpPr>
          <p:nvPr/>
        </p:nvSpPr>
        <p:spPr>
          <a:xfrm>
            <a:off x="4676775" y="40481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D8A62"/>
                </a:solidFill>
              </a:defRPr>
            </a:pPr>
            <a:r>
              <a:rPr sz="1350" b="1">
                <a:solidFill>
                  <a:srgbClr val="2D8A62"/>
                </a:solidFill>
              </a:rPr>
              <a:t>恢复跨句材料—温度关系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C603EA-B683-4CB1-BDBF-F0C43182A8A6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333750" cy="2857500"/>
          </a:xfrm>
          <a:prstGeom prst="rect">
            <a:avLst/>
          </a:prstGeom>
          <a:solidFill>
            <a:srgbClr val="EDF1F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BD344F-0A47-41DA-B26A-BC40CAABDE24}"/>
              </a:ext>
            </a:extLst>
          </p:cNvPr>
          <p:cNvSpPr>
            <a:spLocks noGrp="1"/>
          </p:cNvSpPr>
          <p:nvPr/>
        </p:nvSpPr>
        <p:spPr>
          <a:xfrm>
            <a:off x="8496300" y="1952625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③ 模型分工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2FEF14-5D6B-49D1-965C-BF2CE46A76F3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762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Qwen Flash：yes/no审查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DeepSeek V4 Flash：科学抽取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逐篇JSON与错误隔离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2AE583-7912-4231-854D-C2FF1B06DDF5}"/>
              </a:ext>
            </a:extLst>
          </p:cNvPr>
          <p:cNvSpPr>
            <a:spLocks noGrp="1"/>
          </p:cNvSpPr>
          <p:nvPr/>
        </p:nvSpPr>
        <p:spPr>
          <a:xfrm>
            <a:off x="8496300" y="40481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D8A62"/>
                </a:solidFill>
              </a:defRPr>
            </a:pPr>
            <a:r>
              <a:rPr sz="1350" b="1">
                <a:solidFill>
                  <a:srgbClr val="2D8A62"/>
                </a:solidFill>
              </a:rPr>
              <a:t>低成本筛选 + 强模型抽取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FDFC3B4-3C01-4644-A846-B927E468C9C2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2065020" cy="7429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D532E4-3E17-4471-A5BB-552F731A1700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91262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PDF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5380C0-BD46-437C-A4F3-6917EA5F38CC}"/>
              </a:ext>
            </a:extLst>
          </p:cNvPr>
          <p:cNvSpPr>
            <a:spLocks noGrp="1"/>
          </p:cNvSpPr>
          <p:nvPr/>
        </p:nvSpPr>
        <p:spPr>
          <a:xfrm>
            <a:off x="2674620" y="5334000"/>
            <a:ext cx="161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594CEC5-C1BF-41CF-82E0-7109BE773C09}"/>
              </a:ext>
            </a:extLst>
          </p:cNvPr>
          <p:cNvSpPr>
            <a:spLocks noGrp="1"/>
          </p:cNvSpPr>
          <p:nvPr/>
        </p:nvSpPr>
        <p:spPr>
          <a:xfrm>
            <a:off x="2836545" y="5143500"/>
            <a:ext cx="2065020" cy="742950"/>
          </a:xfrm>
          <a:prstGeom prst="roundRect">
            <a:avLst>
              <a:gd name="adj" fmla="val 15385"/>
            </a:avLst>
          </a:prstGeom>
          <a:solidFill>
            <a:srgbClr val="DFF3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1E0F7C-720A-4B6C-BAEE-2EF74099863C}"/>
              </a:ext>
            </a:extLst>
          </p:cNvPr>
          <p:cNvSpPr>
            <a:spLocks noGrp="1"/>
          </p:cNvSpPr>
          <p:nvPr/>
        </p:nvSpPr>
        <p:spPr>
          <a:xfrm>
            <a:off x="2912745" y="5210175"/>
            <a:ext cx="191262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规则+PhysBERT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CD5110F-8D91-4DEF-B59D-E3DE7870E31B}"/>
              </a:ext>
            </a:extLst>
          </p:cNvPr>
          <p:cNvSpPr>
            <a:spLocks noGrp="1"/>
          </p:cNvSpPr>
          <p:nvPr/>
        </p:nvSpPr>
        <p:spPr>
          <a:xfrm>
            <a:off x="4901565" y="5334000"/>
            <a:ext cx="161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745C270-0DC3-44C9-B6DB-AAB61763B991}"/>
              </a:ext>
            </a:extLst>
          </p:cNvPr>
          <p:cNvSpPr>
            <a:spLocks noGrp="1"/>
          </p:cNvSpPr>
          <p:nvPr/>
        </p:nvSpPr>
        <p:spPr>
          <a:xfrm>
            <a:off x="5063490" y="5143500"/>
            <a:ext cx="2065020" cy="7429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AB582B-CA5A-4E6F-A502-3F009834FC0E}"/>
              </a:ext>
            </a:extLst>
          </p:cNvPr>
          <p:cNvSpPr>
            <a:spLocks noGrp="1"/>
          </p:cNvSpPr>
          <p:nvPr/>
        </p:nvSpPr>
        <p:spPr>
          <a:xfrm>
            <a:off x="5139690" y="5210175"/>
            <a:ext cx="191262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Qwen审查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CC6380-E889-4F72-BB93-AFFB9F2AC513}"/>
              </a:ext>
            </a:extLst>
          </p:cNvPr>
          <p:cNvSpPr>
            <a:spLocks noGrp="1"/>
          </p:cNvSpPr>
          <p:nvPr/>
        </p:nvSpPr>
        <p:spPr>
          <a:xfrm>
            <a:off x="7128510" y="5334000"/>
            <a:ext cx="161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1BF01EB-EE73-4147-8359-8A40BBFCA32B}"/>
              </a:ext>
            </a:extLst>
          </p:cNvPr>
          <p:cNvSpPr>
            <a:spLocks noGrp="1"/>
          </p:cNvSpPr>
          <p:nvPr/>
        </p:nvSpPr>
        <p:spPr>
          <a:xfrm>
            <a:off x="7290435" y="5143500"/>
            <a:ext cx="2065020" cy="742950"/>
          </a:xfrm>
          <a:prstGeom prst="roundRect">
            <a:avLst>
              <a:gd name="adj" fmla="val 15385"/>
            </a:avLst>
          </a:prstGeom>
          <a:solidFill>
            <a:srgbClr val="DFF3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FB938E4-EF6C-4C0D-8A40-7723F9188B4E}"/>
              </a:ext>
            </a:extLst>
          </p:cNvPr>
          <p:cNvSpPr>
            <a:spLocks noGrp="1"/>
          </p:cNvSpPr>
          <p:nvPr/>
        </p:nvSpPr>
        <p:spPr>
          <a:xfrm>
            <a:off x="7366635" y="5210175"/>
            <a:ext cx="191262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DeepSeek抽取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D4B3FA6-B7D1-4CAF-8E68-247D1943209C}"/>
              </a:ext>
            </a:extLst>
          </p:cNvPr>
          <p:cNvSpPr>
            <a:spLocks noGrp="1"/>
          </p:cNvSpPr>
          <p:nvPr/>
        </p:nvSpPr>
        <p:spPr>
          <a:xfrm>
            <a:off x="9355455" y="5334000"/>
            <a:ext cx="161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2C9272A-7915-4DDE-BDF2-5A0C343794CA}"/>
              </a:ext>
            </a:extLst>
          </p:cNvPr>
          <p:cNvSpPr>
            <a:spLocks noGrp="1"/>
          </p:cNvSpPr>
          <p:nvPr/>
        </p:nvSpPr>
        <p:spPr>
          <a:xfrm>
            <a:off x="9517380" y="5143500"/>
            <a:ext cx="2065020" cy="7429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3AB82A6-3591-4ABC-BF47-94CBDD112AE4}"/>
              </a:ext>
            </a:extLst>
          </p:cNvPr>
          <p:cNvSpPr>
            <a:spLocks noGrp="1"/>
          </p:cNvSpPr>
          <p:nvPr/>
        </p:nvSpPr>
        <p:spPr>
          <a:xfrm>
            <a:off x="9593580" y="5210175"/>
            <a:ext cx="191262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Prediction JSON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D6C90F1-EB56-4F7B-A232-6601A87B618B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8A96A3"/>
                </a:solidFill>
              </a:defRPr>
            </a:pPr>
            <a:r>
              <a:rPr sz="900" b="1">
                <a:solidFill>
                  <a:srgbClr val="8A96A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4553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AEDC8156-20EE-4584-BBC5-56DEC79A5DF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规模验证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82946D-7BA9-4DFB-A26E-EF31DE44F447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100篇全部运行完成，前30篇严格F1为0.944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99C28D-1C2D-4F1C-9299-3742ABD182D9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B8C0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4" name="Chart"/>
          <p:cNvGraphicFramePr/>
          <p:nvPr/>
        </p:nvGraphicFramePr>
        <p:xfrm>
          <a:off x="571500" y="1762125"/>
          <a:ext cx="447675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9C253EB-3CE0-4378-B7A3-973D01F1E8C6}"/>
              </a:ext>
            </a:extLst>
          </p:cNvPr>
          <p:cNvSpPr>
            <a:spLocks noGrp="1"/>
          </p:cNvSpPr>
          <p:nvPr/>
        </p:nvSpPr>
        <p:spPr>
          <a:xfrm>
            <a:off x="5619750" y="180975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51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569C40-424F-480B-9DB5-33ECEC38E624}"/>
              </a:ext>
            </a:extLst>
          </p:cNvPr>
          <p:cNvSpPr>
            <a:spLocks noGrp="1"/>
          </p:cNvSpPr>
          <p:nvPr/>
        </p:nvSpPr>
        <p:spPr>
          <a:xfrm>
            <a:off x="5619750" y="24955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36273"/>
                </a:solidFill>
              </a:defRPr>
            </a:pPr>
            <a:r>
              <a:rPr sz="1275" b="1">
                <a:solidFill>
                  <a:srgbClr val="536273"/>
                </a:solidFill>
              </a:rPr>
              <a:t>COMPLETED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17FA70-029D-4A93-A7B9-9438DBE75434}"/>
              </a:ext>
            </a:extLst>
          </p:cNvPr>
          <p:cNvSpPr>
            <a:spLocks noGrp="1"/>
          </p:cNvSpPr>
          <p:nvPr/>
        </p:nvSpPr>
        <p:spPr>
          <a:xfrm>
            <a:off x="7620000" y="180975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6DCBF4"/>
                </a:solidFill>
              </a:defRPr>
            </a:pPr>
            <a:r>
              <a:rPr sz="3600" b="1">
                <a:solidFill>
                  <a:srgbClr val="6DCBF4"/>
                </a:solidFill>
              </a:rPr>
              <a:t>15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BDBC17-A921-4707-BEDD-2649083B079E}"/>
              </a:ext>
            </a:extLst>
          </p:cNvPr>
          <p:cNvSpPr>
            <a:spLocks noGrp="1"/>
          </p:cNvSpPr>
          <p:nvPr/>
        </p:nvSpPr>
        <p:spPr>
          <a:xfrm>
            <a:off x="7620000" y="24955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36273"/>
                </a:solidFill>
              </a:defRPr>
            </a:pPr>
            <a:r>
              <a:rPr sz="1275" b="1">
                <a:solidFill>
                  <a:srgbClr val="536273"/>
                </a:solidFill>
              </a:rPr>
              <a:t>EMPTY_RESULT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A1EAB6-7666-4753-949D-4164F02BBFD2}"/>
              </a:ext>
            </a:extLst>
          </p:cNvPr>
          <p:cNvSpPr>
            <a:spLocks noGrp="1"/>
          </p:cNvSpPr>
          <p:nvPr/>
        </p:nvSpPr>
        <p:spPr>
          <a:xfrm>
            <a:off x="9620250" y="1809750"/>
            <a:ext cx="1809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536273"/>
                </a:solidFill>
              </a:defRPr>
            </a:pPr>
            <a:r>
              <a:rPr sz="3600" b="1">
                <a:solidFill>
                  <a:srgbClr val="536273"/>
                </a:solidFill>
              </a:rPr>
              <a:t>34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B68D1B-3741-42BE-9D5A-D87429E4A0DC}"/>
              </a:ext>
            </a:extLst>
          </p:cNvPr>
          <p:cNvSpPr>
            <a:spLocks noGrp="1"/>
          </p:cNvSpPr>
          <p:nvPr/>
        </p:nvSpPr>
        <p:spPr>
          <a:xfrm>
            <a:off x="9620250" y="24955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36273"/>
                </a:solidFill>
              </a:defRPr>
            </a:pPr>
            <a:r>
              <a:rPr sz="1275" b="1">
                <a:solidFill>
                  <a:srgbClr val="536273"/>
                </a:solidFill>
              </a:rPr>
              <a:t>PREFILTER_REJECTED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7BF865-B7EA-4238-B0F2-8ED710C4BD6E}"/>
              </a:ext>
            </a:extLst>
          </p:cNvPr>
          <p:cNvSpPr>
            <a:spLocks noGrp="1"/>
          </p:cNvSpPr>
          <p:nvPr/>
        </p:nvSpPr>
        <p:spPr>
          <a:xfrm>
            <a:off x="5619750" y="3333750"/>
            <a:ext cx="5810250" cy="1857375"/>
          </a:xfrm>
          <a:prstGeom prst="rect">
            <a:avLst/>
          </a:prstGeom>
          <a:solidFill>
            <a:srgbClr val="EDF1F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5EEE8B-69B2-4E1E-90FC-32DA33B35EF5}"/>
              </a:ext>
            </a:extLst>
          </p:cNvPr>
          <p:cNvSpPr>
            <a:spLocks noGrp="1"/>
          </p:cNvSpPr>
          <p:nvPr/>
        </p:nvSpPr>
        <p:spPr>
          <a:xfrm>
            <a:off x="5905500" y="35718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前30篇人工Gold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0DE538-6311-404E-A72B-224318D10903}"/>
              </a:ext>
            </a:extLst>
          </p:cNvPr>
          <p:cNvSpPr>
            <a:spLocks noGrp="1"/>
          </p:cNvSpPr>
          <p:nvPr/>
        </p:nvSpPr>
        <p:spPr>
          <a:xfrm>
            <a:off x="5905500" y="4000500"/>
            <a:ext cx="1428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0.977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486D46-2274-4506-AA81-FCDA39AF85AC}"/>
              </a:ext>
            </a:extLst>
          </p:cNvPr>
          <p:cNvSpPr>
            <a:spLocks noGrp="1"/>
          </p:cNvSpPr>
          <p:nvPr/>
        </p:nvSpPr>
        <p:spPr>
          <a:xfrm>
            <a:off x="5905500" y="46863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36273"/>
                </a:solidFill>
              </a:defRPr>
            </a:pPr>
            <a:r>
              <a:rPr sz="1275" b="1">
                <a:solidFill>
                  <a:srgbClr val="536273"/>
                </a:solidFill>
              </a:rPr>
              <a:t>Precision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AE56FA-A6C0-41C8-9B83-8485D06919FA}"/>
              </a:ext>
            </a:extLst>
          </p:cNvPr>
          <p:cNvSpPr>
            <a:spLocks noGrp="1"/>
          </p:cNvSpPr>
          <p:nvPr/>
        </p:nvSpPr>
        <p:spPr>
          <a:xfrm>
            <a:off x="7810500" y="4000500"/>
            <a:ext cx="1428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2D8A62"/>
                </a:solidFill>
              </a:defRPr>
            </a:pPr>
            <a:r>
              <a:rPr sz="3600" b="1">
                <a:solidFill>
                  <a:srgbClr val="2D8A62"/>
                </a:solidFill>
              </a:rPr>
              <a:t>0.913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8A9B3C-E695-4467-8550-71103E0F0F38}"/>
              </a:ext>
            </a:extLst>
          </p:cNvPr>
          <p:cNvSpPr>
            <a:spLocks noGrp="1"/>
          </p:cNvSpPr>
          <p:nvPr/>
        </p:nvSpPr>
        <p:spPr>
          <a:xfrm>
            <a:off x="7810500" y="46863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36273"/>
                </a:solidFill>
              </a:defRPr>
            </a:pPr>
            <a:r>
              <a:rPr sz="1275" b="1">
                <a:solidFill>
                  <a:srgbClr val="536273"/>
                </a:solidFill>
              </a:rPr>
              <a:t>Recall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ECBD59-9C09-46BA-9EAD-2BCF04FF77BC}"/>
              </a:ext>
            </a:extLst>
          </p:cNvPr>
          <p:cNvSpPr>
            <a:spLocks noGrp="1"/>
          </p:cNvSpPr>
          <p:nvPr/>
        </p:nvSpPr>
        <p:spPr>
          <a:xfrm>
            <a:off x="9715500" y="4000500"/>
            <a:ext cx="1428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E4A53B"/>
                </a:solidFill>
              </a:defRPr>
            </a:pPr>
            <a:r>
              <a:rPr sz="3600" b="1">
                <a:solidFill>
                  <a:srgbClr val="E4A53B"/>
                </a:solidFill>
              </a:rPr>
              <a:t>0.944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694581E-4E89-4FF5-9299-8B452939110F}"/>
              </a:ext>
            </a:extLst>
          </p:cNvPr>
          <p:cNvSpPr>
            <a:spLocks noGrp="1"/>
          </p:cNvSpPr>
          <p:nvPr/>
        </p:nvSpPr>
        <p:spPr>
          <a:xfrm>
            <a:off x="9715500" y="46863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36273"/>
                </a:solidFill>
              </a:defRPr>
            </a:pPr>
            <a:r>
              <a:rPr sz="1275" b="1">
                <a:solidFill>
                  <a:srgbClr val="536273"/>
                </a:solidFill>
              </a:rPr>
              <a:t>F1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32A8A46-1658-46EF-9C63-0595FE0A80D6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100篇预测已生成；31–100仍需人工Gold，才能得到完整科学指标。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09C7F9-C2CD-4123-9AAE-7E920054028F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8A96A3"/>
                </a:solidFill>
              </a:defRPr>
            </a:pPr>
            <a:r>
              <a:rPr sz="900" b="1">
                <a:solidFill>
                  <a:srgbClr val="8A96A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87890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706A84-3161-41A2-B426-20394495C059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 dirty="0" err="1">
                <a:solidFill>
                  <a:srgbClr val="111827"/>
                </a:solidFill>
              </a:rPr>
              <a:t>发现论文</a:t>
            </a:r>
            <a:r>
              <a:rPr sz="2850" b="1" dirty="0">
                <a:solidFill>
                  <a:srgbClr val="111827"/>
                </a:solidFill>
              </a:rPr>
              <a:t>—</a:t>
            </a:r>
            <a:r>
              <a:rPr sz="2850" b="1" dirty="0" err="1">
                <a:solidFill>
                  <a:srgbClr val="111827"/>
                </a:solidFill>
              </a:rPr>
              <a:t>免费下载</a:t>
            </a:r>
            <a:r>
              <a:rPr sz="2850" b="1" dirty="0">
                <a:solidFill>
                  <a:srgbClr val="111827"/>
                </a:solidFill>
              </a:rPr>
              <a:t>—</a:t>
            </a:r>
            <a:r>
              <a:rPr sz="2850" b="1" dirty="0" err="1">
                <a:solidFill>
                  <a:srgbClr val="111827"/>
                </a:solidFill>
              </a:rPr>
              <a:t>校验入库</a:t>
            </a:r>
            <a:endParaRPr sz="2850" b="1" dirty="0">
              <a:solidFill>
                <a:srgbClr val="111827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6CA51D-52E9-4C5E-8F29-00B4BE166446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B8C0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7DA4ABB-BFCA-4A08-A6C3-5A0A384DCB0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428750" cy="7429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BE098B-8EFE-4DF6-A3F5-AFEDC5B4030A}"/>
              </a:ext>
            </a:extLst>
          </p:cNvPr>
          <p:cNvSpPr>
            <a:spLocks noGrp="1"/>
          </p:cNvSpPr>
          <p:nvPr/>
        </p:nvSpPr>
        <p:spPr>
          <a:xfrm>
            <a:off x="685800" y="1876425"/>
            <a:ext cx="1276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Scopus检索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AD67C1-84A4-416C-A3C9-0DAEA2310FA2}"/>
              </a:ext>
            </a:extLst>
          </p:cNvPr>
          <p:cNvSpPr>
            <a:spLocks noGrp="1"/>
          </p:cNvSpPr>
          <p:nvPr/>
        </p:nvSpPr>
        <p:spPr>
          <a:xfrm>
            <a:off x="2038350" y="2000250"/>
            <a:ext cx="161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177A6DA-A793-44CE-90AB-49DDBA594695}"/>
              </a:ext>
            </a:extLst>
          </p:cNvPr>
          <p:cNvSpPr>
            <a:spLocks noGrp="1"/>
          </p:cNvSpPr>
          <p:nvPr/>
        </p:nvSpPr>
        <p:spPr>
          <a:xfrm>
            <a:off x="2200275" y="1809750"/>
            <a:ext cx="1428750" cy="742950"/>
          </a:xfrm>
          <a:prstGeom prst="roundRect">
            <a:avLst>
              <a:gd name="adj" fmla="val 15385"/>
            </a:avLst>
          </a:prstGeom>
          <a:solidFill>
            <a:srgbClr val="DFF3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22A7A6-824C-4F59-8B10-DFF296AEE34B}"/>
              </a:ext>
            </a:extLst>
          </p:cNvPr>
          <p:cNvSpPr>
            <a:spLocks noGrp="1"/>
          </p:cNvSpPr>
          <p:nvPr/>
        </p:nvSpPr>
        <p:spPr>
          <a:xfrm>
            <a:off x="2276475" y="1876425"/>
            <a:ext cx="1276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2020–2026</a:t>
            </a:r>
          </a:p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逐年分层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EBE174-5ECD-4685-8E40-15027EC1BA9E}"/>
              </a:ext>
            </a:extLst>
          </p:cNvPr>
          <p:cNvSpPr>
            <a:spLocks noGrp="1"/>
          </p:cNvSpPr>
          <p:nvPr/>
        </p:nvSpPr>
        <p:spPr>
          <a:xfrm>
            <a:off x="3629025" y="2000250"/>
            <a:ext cx="161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2E5C7A1-6CF1-4337-AEC9-4B972A6F1DAE}"/>
              </a:ext>
            </a:extLst>
          </p:cNvPr>
          <p:cNvSpPr>
            <a:spLocks noGrp="1"/>
          </p:cNvSpPr>
          <p:nvPr/>
        </p:nvSpPr>
        <p:spPr>
          <a:xfrm>
            <a:off x="3790950" y="1809750"/>
            <a:ext cx="1428750" cy="7429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E01236-21C0-42AF-A237-529A662EEFC5}"/>
              </a:ext>
            </a:extLst>
          </p:cNvPr>
          <p:cNvSpPr>
            <a:spLocks noGrp="1"/>
          </p:cNvSpPr>
          <p:nvPr/>
        </p:nvSpPr>
        <p:spPr>
          <a:xfrm>
            <a:off x="3867150" y="1876425"/>
            <a:ext cx="1276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OA候选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9AFDB7-EC3F-426D-A0D9-8F67C09E2773}"/>
              </a:ext>
            </a:extLst>
          </p:cNvPr>
          <p:cNvSpPr>
            <a:spLocks noGrp="1"/>
          </p:cNvSpPr>
          <p:nvPr/>
        </p:nvSpPr>
        <p:spPr>
          <a:xfrm>
            <a:off x="5219700" y="2000250"/>
            <a:ext cx="161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56CDB50-FCB5-4C06-B34F-BA2B1CF0938E}"/>
              </a:ext>
            </a:extLst>
          </p:cNvPr>
          <p:cNvSpPr>
            <a:spLocks noGrp="1"/>
          </p:cNvSpPr>
          <p:nvPr/>
        </p:nvSpPr>
        <p:spPr>
          <a:xfrm>
            <a:off x="5381625" y="1809750"/>
            <a:ext cx="1428750" cy="742950"/>
          </a:xfrm>
          <a:prstGeom prst="roundRect">
            <a:avLst>
              <a:gd name="adj" fmla="val 15385"/>
            </a:avLst>
          </a:prstGeom>
          <a:solidFill>
            <a:srgbClr val="DFF3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0CBD7B-C31F-4680-A024-9CC8CA112A03}"/>
              </a:ext>
            </a:extLst>
          </p:cNvPr>
          <p:cNvSpPr>
            <a:spLocks noGrp="1"/>
          </p:cNvSpPr>
          <p:nvPr/>
        </p:nvSpPr>
        <p:spPr>
          <a:xfrm>
            <a:off x="5457825" y="1876425"/>
            <a:ext cx="1276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Semantic Scholar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01B6820-DD59-445A-BAEA-737B0895D399}"/>
              </a:ext>
            </a:extLst>
          </p:cNvPr>
          <p:cNvSpPr>
            <a:spLocks noGrp="1"/>
          </p:cNvSpPr>
          <p:nvPr/>
        </p:nvSpPr>
        <p:spPr>
          <a:xfrm>
            <a:off x="6810375" y="2000250"/>
            <a:ext cx="161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A823A5D-0E3F-4244-BC6E-FD0773FB62FE}"/>
              </a:ext>
            </a:extLst>
          </p:cNvPr>
          <p:cNvSpPr>
            <a:spLocks noGrp="1"/>
          </p:cNvSpPr>
          <p:nvPr/>
        </p:nvSpPr>
        <p:spPr>
          <a:xfrm>
            <a:off x="6972300" y="1809750"/>
            <a:ext cx="1428750" cy="7429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663AB1-0B53-43A9-A4B8-858973CB87E4}"/>
              </a:ext>
            </a:extLst>
          </p:cNvPr>
          <p:cNvSpPr>
            <a:spLocks noGrp="1"/>
          </p:cNvSpPr>
          <p:nvPr/>
        </p:nvSpPr>
        <p:spPr>
          <a:xfrm>
            <a:off x="7048500" y="1876425"/>
            <a:ext cx="1276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OpenAlex补救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F45463A-08DE-4B35-A1D1-8F22B3170355}"/>
              </a:ext>
            </a:extLst>
          </p:cNvPr>
          <p:cNvSpPr>
            <a:spLocks noGrp="1"/>
          </p:cNvSpPr>
          <p:nvPr/>
        </p:nvSpPr>
        <p:spPr>
          <a:xfrm>
            <a:off x="8401050" y="2000250"/>
            <a:ext cx="161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C47E25E-4A43-460C-B7BD-C3CDE00DC2B4}"/>
              </a:ext>
            </a:extLst>
          </p:cNvPr>
          <p:cNvSpPr>
            <a:spLocks noGrp="1"/>
          </p:cNvSpPr>
          <p:nvPr/>
        </p:nvSpPr>
        <p:spPr>
          <a:xfrm>
            <a:off x="8562975" y="1809750"/>
            <a:ext cx="1428750" cy="742950"/>
          </a:xfrm>
          <a:prstGeom prst="roundRect">
            <a:avLst>
              <a:gd name="adj" fmla="val 15385"/>
            </a:avLst>
          </a:prstGeom>
          <a:solidFill>
            <a:srgbClr val="DFF3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644CEF-8D35-419B-A92E-91DAA2A283E3}"/>
              </a:ext>
            </a:extLst>
          </p:cNvPr>
          <p:cNvSpPr>
            <a:spLocks noGrp="1"/>
          </p:cNvSpPr>
          <p:nvPr/>
        </p:nvSpPr>
        <p:spPr>
          <a:xfrm>
            <a:off x="8639175" y="1876425"/>
            <a:ext cx="1276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PDF校验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53CD5AD-74DC-47EE-8D87-154A74543AEB}"/>
              </a:ext>
            </a:extLst>
          </p:cNvPr>
          <p:cNvSpPr>
            <a:spLocks noGrp="1"/>
          </p:cNvSpPr>
          <p:nvPr/>
        </p:nvSpPr>
        <p:spPr>
          <a:xfrm>
            <a:off x="9991725" y="2000250"/>
            <a:ext cx="161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F331A8B-52D4-45AE-8E4D-608C677A6543}"/>
              </a:ext>
            </a:extLst>
          </p:cNvPr>
          <p:cNvSpPr>
            <a:spLocks noGrp="1"/>
          </p:cNvSpPr>
          <p:nvPr/>
        </p:nvSpPr>
        <p:spPr>
          <a:xfrm>
            <a:off x="10153650" y="1809750"/>
            <a:ext cx="1428750" cy="7429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786C79-6D05-40CC-808F-51B5137A69C4}"/>
              </a:ext>
            </a:extLst>
          </p:cNvPr>
          <p:cNvSpPr>
            <a:spLocks noGrp="1"/>
          </p:cNvSpPr>
          <p:nvPr/>
        </p:nvSpPr>
        <p:spPr>
          <a:xfrm>
            <a:off x="10229850" y="1876425"/>
            <a:ext cx="1276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pdfs/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A1AEE21-76FC-4A30-B7C7-AC274AF533E3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候选发现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4E8159-DEE0-4716-B024-4397B8E10E13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20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B2DF140-A0EF-425B-B1C4-9EED088C8387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3848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首轮500篇→优先200篇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0C1BD1E-446C-4943-8610-86B44F0CD440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20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9952FE3-90EF-40C3-8CFB-606C218B3FBA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4705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再检索500篇OPENACCESS候选并排除重复DOI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8B24106-8E09-4D95-8588-18D31AA0CF5F}"/>
              </a:ext>
            </a:extLst>
          </p:cNvPr>
          <p:cNvSpPr>
            <a:spLocks noGrp="1"/>
          </p:cNvSpPr>
          <p:nvPr/>
        </p:nvSpPr>
        <p:spPr>
          <a:xfrm>
            <a:off x="6191250" y="31432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合法下载与质量控制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E56A9F-E127-4252-B11A-603332E20062}"/>
              </a:ext>
            </a:extLst>
          </p:cNvPr>
          <p:cNvSpPr>
            <a:spLocks noGrp="1"/>
          </p:cNvSpPr>
          <p:nvPr/>
        </p:nvSpPr>
        <p:spPr>
          <a:xfrm>
            <a:off x="6191250" y="3619500"/>
            <a:ext cx="20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DDF30F7-ADD7-416D-81DF-4ED14252A638}"/>
              </a:ext>
            </a:extLst>
          </p:cNvPr>
          <p:cNvSpPr>
            <a:spLocks noGrp="1"/>
          </p:cNvSpPr>
          <p:nvPr/>
        </p:nvSpPr>
        <p:spPr>
          <a:xfrm>
            <a:off x="6438900" y="3619500"/>
            <a:ext cx="4514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只使用免费开放PDF，不绕过付费墙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4F1B97A-2674-4F73-AAD6-EFF5DB455851}"/>
              </a:ext>
            </a:extLst>
          </p:cNvPr>
          <p:cNvSpPr>
            <a:spLocks noGrp="1"/>
          </p:cNvSpPr>
          <p:nvPr/>
        </p:nvSpPr>
        <p:spPr>
          <a:xfrm>
            <a:off x="6191250" y="4095750"/>
            <a:ext cx="20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D82A88E-4AF5-449E-AA23-9AAA431EAF14}"/>
              </a:ext>
            </a:extLst>
          </p:cNvPr>
          <p:cNvSpPr>
            <a:spLocks noGrp="1"/>
          </p:cNvSpPr>
          <p:nvPr/>
        </p:nvSpPr>
        <p:spPr>
          <a:xfrm>
            <a:off x="6438900" y="4095750"/>
            <a:ext cx="4705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临时.part → %PDF/大小检查 → SHA-256去重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3F14203-6EFF-4870-9049-DCD06A682E89}"/>
              </a:ext>
            </a:extLst>
          </p:cNvPr>
          <p:cNvSpPr>
            <a:spLocks noGrp="1"/>
          </p:cNvSpPr>
          <p:nvPr/>
        </p:nvSpPr>
        <p:spPr>
          <a:xfrm>
            <a:off x="1428750" y="5095875"/>
            <a:ext cx="9334500" cy="666750"/>
          </a:xfrm>
          <a:prstGeom prst="rect">
            <a:avLst/>
          </a:prstGeom>
          <a:solidFill>
            <a:srgbClr val="DFF3F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9697605-450E-4E2A-932F-56F61072A056}"/>
              </a:ext>
            </a:extLst>
          </p:cNvPr>
          <p:cNvSpPr>
            <a:spLocks noGrp="1"/>
          </p:cNvSpPr>
          <p:nvPr/>
        </p:nvSpPr>
        <p:spPr>
          <a:xfrm>
            <a:off x="1666875" y="5210175"/>
            <a:ext cx="8858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Scopus负责找论文｜Semantic Scholar找开放PDF｜OpenAlex补救｜下载器负责校验与去重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21B901F-AC78-4052-91AC-62A66F2712E7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8A96A3"/>
                </a:solidFill>
              </a:defRPr>
            </a:pPr>
            <a:r>
              <a:rPr sz="900" b="1">
                <a:solidFill>
                  <a:srgbClr val="8A96A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6127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37782B60-DA04-4C1B-9BE4-A2BF6315810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3D8DFF"/>
                </a:solidFill>
              </a:defRPr>
            </a:pPr>
            <a:endParaRPr sz="1050" b="1" dirty="0">
              <a:solidFill>
                <a:srgbClr val="3D8DFF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0011DC-DF49-49EE-88B7-9AD609B719A7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新增103篇唯一免费PDF，下一步进入Tc抽取与Gold审核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A56A1B-9BF1-4075-8CAE-67423029FF1B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B8C0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8946B7-6F5F-47B8-B009-B8B55511E9B2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103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25F0DC-D7BC-458C-9E37-E61F0342C0BB}"/>
              </a:ext>
            </a:extLst>
          </p:cNvPr>
          <p:cNvSpPr>
            <a:spLocks noGrp="1"/>
          </p:cNvSpPr>
          <p:nvPr/>
        </p:nvSpPr>
        <p:spPr>
          <a:xfrm>
            <a:off x="762000" y="24479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36273"/>
                </a:solidFill>
              </a:defRPr>
            </a:pPr>
            <a:r>
              <a:rPr sz="1275" b="1">
                <a:solidFill>
                  <a:srgbClr val="536273"/>
                </a:solidFill>
              </a:rPr>
              <a:t>免费开放PDF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954E37-4406-487D-BAE1-10AC783777E2}"/>
              </a:ext>
            </a:extLst>
          </p:cNvPr>
          <p:cNvSpPr>
            <a:spLocks noGrp="1"/>
          </p:cNvSpPr>
          <p:nvPr/>
        </p:nvSpPr>
        <p:spPr>
          <a:xfrm>
            <a:off x="4667250" y="176212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2D8A62"/>
                </a:solidFill>
              </a:defRPr>
            </a:pPr>
            <a:r>
              <a:rPr sz="3600" b="1">
                <a:solidFill>
                  <a:srgbClr val="2D8A62"/>
                </a:solidFill>
              </a:rPr>
              <a:t>79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FA9B47-D133-44AA-AE32-D60947D6641D}"/>
              </a:ext>
            </a:extLst>
          </p:cNvPr>
          <p:cNvSpPr>
            <a:spLocks noGrp="1"/>
          </p:cNvSpPr>
          <p:nvPr/>
        </p:nvSpPr>
        <p:spPr>
          <a:xfrm>
            <a:off x="4667250" y="24479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36273"/>
                </a:solidFill>
              </a:defRPr>
            </a:pPr>
            <a:r>
              <a:rPr sz="1275" b="1">
                <a:solidFill>
                  <a:srgbClr val="536273"/>
                </a:solidFill>
              </a:rPr>
              <a:t>Semantic Scholar直链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B3F620-5B43-4E1D-BF67-1A4463B6F48F}"/>
              </a:ext>
            </a:extLst>
          </p:cNvPr>
          <p:cNvSpPr>
            <a:spLocks noGrp="1"/>
          </p:cNvSpPr>
          <p:nvPr/>
        </p:nvSpPr>
        <p:spPr>
          <a:xfrm>
            <a:off x="8572500" y="176212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E4A53B"/>
                </a:solidFill>
              </a:defRPr>
            </a:pPr>
            <a:r>
              <a:rPr sz="3600" b="1">
                <a:solidFill>
                  <a:srgbClr val="E4A53B"/>
                </a:solidFill>
              </a:rPr>
              <a:t>24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0D42A0-114B-4D68-97A6-E6CA1A9F5EF7}"/>
              </a:ext>
            </a:extLst>
          </p:cNvPr>
          <p:cNvSpPr>
            <a:spLocks noGrp="1"/>
          </p:cNvSpPr>
          <p:nvPr/>
        </p:nvSpPr>
        <p:spPr>
          <a:xfrm>
            <a:off x="8572500" y="24479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36273"/>
                </a:solidFill>
              </a:defRPr>
            </a:pPr>
            <a:r>
              <a:rPr sz="1275" b="1">
                <a:solidFill>
                  <a:srgbClr val="536273"/>
                </a:solidFill>
              </a:rPr>
              <a:t>OpenAlex补救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75ACA9-5255-42A0-A4D8-B7A2810FA7D1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10668000" cy="9525"/>
          </a:xfrm>
          <a:prstGeom prst="rect">
            <a:avLst/>
          </a:prstGeom>
          <a:solidFill>
            <a:srgbClr val="B8C0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E11F22-B2FD-4153-9C23-D0B07AB2BC76}"/>
              </a:ext>
            </a:extLst>
          </p:cNvPr>
          <p:cNvSpPr>
            <a:spLocks noGrp="1"/>
          </p:cNvSpPr>
          <p:nvPr/>
        </p:nvSpPr>
        <p:spPr>
          <a:xfrm>
            <a:off x="762000" y="3571875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Paper 101–203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3ED15A-A8D8-4DB1-900B-06CF376FAE45}"/>
              </a:ext>
            </a:extLst>
          </p:cNvPr>
          <p:cNvSpPr>
            <a:spLocks noGrp="1"/>
          </p:cNvSpPr>
          <p:nvPr/>
        </p:nvSpPr>
        <p:spPr>
          <a:xfrm>
            <a:off x="762000" y="41148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536273"/>
                </a:solidFill>
              </a:defRPr>
            </a:pPr>
            <a:r>
              <a:rPr sz="1350" b="1">
                <a:solidFill>
                  <a:srgbClr val="536273"/>
                </a:solidFill>
              </a:rPr>
              <a:t>连续编号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420B48-075D-42E5-8D2B-B6DC1CDD8228}"/>
              </a:ext>
            </a:extLst>
          </p:cNvPr>
          <p:cNvSpPr>
            <a:spLocks noGrp="1"/>
          </p:cNvSpPr>
          <p:nvPr/>
        </p:nvSpPr>
        <p:spPr>
          <a:xfrm>
            <a:off x="4476750" y="3571875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103 / 103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1B3EA9-78B1-4DC9-A36F-92DED31D8C0C}"/>
              </a:ext>
            </a:extLst>
          </p:cNvPr>
          <p:cNvSpPr>
            <a:spLocks noGrp="1"/>
          </p:cNvSpPr>
          <p:nvPr/>
        </p:nvSpPr>
        <p:spPr>
          <a:xfrm>
            <a:off x="4476750" y="41148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536273"/>
                </a:solidFill>
              </a:defRPr>
            </a:pPr>
            <a:r>
              <a:rPr sz="1350" b="1">
                <a:solidFill>
                  <a:srgbClr val="536273"/>
                </a:solidFill>
              </a:rPr>
              <a:t>文件存在且SHA-256唯一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EF2C89-EC7B-44DC-8B6B-70A2BE9CA27C}"/>
              </a:ext>
            </a:extLst>
          </p:cNvPr>
          <p:cNvSpPr>
            <a:spLocks noGrp="1"/>
          </p:cNvSpPr>
          <p:nvPr/>
        </p:nvSpPr>
        <p:spPr>
          <a:xfrm>
            <a:off x="8191500" y="3571875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4B9933-047D-4238-B1DC-A4E460EC1588}"/>
              </a:ext>
            </a:extLst>
          </p:cNvPr>
          <p:cNvSpPr>
            <a:spLocks noGrp="1"/>
          </p:cNvSpPr>
          <p:nvPr/>
        </p:nvSpPr>
        <p:spPr>
          <a:xfrm>
            <a:off x="8191500" y="41148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536273"/>
                </a:solidFill>
              </a:defRPr>
            </a:pPr>
            <a:r>
              <a:rPr sz="1350" b="1">
                <a:solidFill>
                  <a:srgbClr val="536273"/>
                </a:solidFill>
              </a:rPr>
              <a:t>付费墙绕过 / LLM调用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7AFBE4-C848-40EB-9983-984A3848FF35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8A96A3"/>
                </a:solidFill>
              </a:defRPr>
            </a:pPr>
            <a:r>
              <a:rPr sz="900" b="1">
                <a:solidFill>
                  <a:srgbClr val="8A96A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05533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</Words>
  <Application>Microsoft Office PowerPoint</Application>
  <DocSecurity>0</DocSecurity>
  <PresentationFormat>宽屏</PresentationFormat>
  <Paragraphs>123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陈敏焘 陈</cp:lastModifiedBy>
  <cp:revision>1</cp:revision>
  <dcterms:created xsi:type="dcterms:W3CDTF">2026-08-30T01:39:01Z</dcterms:created>
  <dcterms:modified xsi:type="dcterms:W3CDTF">2026-08-30T01:45:47Z</dcterms:modified>
</cp:coreProperties>
</file>