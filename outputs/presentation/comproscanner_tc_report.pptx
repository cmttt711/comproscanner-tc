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82c2d2fecf4dda" /><Relationship Type="http://schemas.openxmlformats.org/officeDocument/2006/relationships/extended-properties" Target="/docProps/app.xml" Id="R2ffa270de3d64752" /><Relationship Type="http://schemas.openxmlformats.org/officeDocument/2006/relationships/officeDocument" Target="/ppt/presentation.xml" Id="Re3449015afba48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d2a82e45a84ce1"/>
  </p:sldMasterIdLst>
  <p:notesMasterIdLst>
    <p:notesMasterId xmlns:r="http://schemas.openxmlformats.org/officeDocument/2006/relationships" r:id="Rc5f595da72d546f8"/>
  </p:notesMasterIdLst>
  <p:sldIdLst>
    <p:sldId xmlns:r="http://schemas.openxmlformats.org/officeDocument/2006/relationships" id="256" r:id="R94dcfa00bfee4f3b"/>
    <p:sldId xmlns:r="http://schemas.openxmlformats.org/officeDocument/2006/relationships" id="257" r:id="R3c2b15064d964b5c"/>
    <p:sldId xmlns:r="http://schemas.openxmlformats.org/officeDocument/2006/relationships" id="258" r:id="R36bae59c8bf74a2d"/>
    <p:sldId xmlns:r="http://schemas.openxmlformats.org/officeDocument/2006/relationships" id="259" r:id="R65052bb9abb94230"/>
    <p:sldId xmlns:r="http://schemas.openxmlformats.org/officeDocument/2006/relationships" id="260" r:id="Rffa237200ba645d7"/>
    <p:sldId xmlns:r="http://schemas.openxmlformats.org/officeDocument/2006/relationships" id="261" r:id="R7c75a8f58d7f4ea0"/>
    <p:sldId xmlns:r="http://schemas.openxmlformats.org/officeDocument/2006/relationships" id="262" r:id="R5d5cf09158454f8e"/>
    <p:sldId xmlns:r="http://schemas.openxmlformats.org/officeDocument/2006/relationships" id="263" r:id="Rebb09d088c1e4da2"/>
    <p:sldId xmlns:r="http://schemas.openxmlformats.org/officeDocument/2006/relationships" id="264" r:id="Rbabff785cb9e4532"/>
    <p:sldId xmlns:r="http://schemas.openxmlformats.org/officeDocument/2006/relationships" id="265" r:id="R32da68558a994885"/>
    <p:sldId xmlns:r="http://schemas.openxmlformats.org/officeDocument/2006/relationships" id="266" r:id="R02fb39f816f5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8da0cc05d84843" /><Relationship Type="http://schemas.openxmlformats.org/officeDocument/2006/relationships/slideMaster" Target="/ppt/slideMasters/slideMaster1.xml" Id="Rbbd2a82e45a84ce1" /><Relationship Type="http://schemas.openxmlformats.org/officeDocument/2006/relationships/notesMaster" Target="/ppt/notesMasters/notesMaster1.xml" Id="Rc5f595da72d546f8" /><Relationship Type="http://schemas.openxmlformats.org/officeDocument/2006/relationships/presProps" Target="/ppt/presProps.xml" Id="R578447712a584bda" /><Relationship Type="http://schemas.openxmlformats.org/officeDocument/2006/relationships/tableStyles" Target="/ppt/tableStyles.xml" Id="R210629a8f22d44a4" /><Relationship Type="http://schemas.openxmlformats.org/officeDocument/2006/relationships/slide" Target="/ppt/slides/slide1.xml" Id="R94dcfa00bfee4f3b" /><Relationship Type="http://schemas.openxmlformats.org/officeDocument/2006/relationships/slide" Target="/ppt/slides/slide2.xml" Id="R3c2b15064d964b5c" /><Relationship Type="http://schemas.openxmlformats.org/officeDocument/2006/relationships/slide" Target="/ppt/slides/slide3.xml" Id="R36bae59c8bf74a2d" /><Relationship Type="http://schemas.openxmlformats.org/officeDocument/2006/relationships/slide" Target="/ppt/slides/slide4.xml" Id="R65052bb9abb94230" /><Relationship Type="http://schemas.openxmlformats.org/officeDocument/2006/relationships/slide" Target="/ppt/slides/slide5.xml" Id="Rffa237200ba645d7" /><Relationship Type="http://schemas.openxmlformats.org/officeDocument/2006/relationships/slide" Target="/ppt/slides/slide6.xml" Id="R7c75a8f58d7f4ea0" /><Relationship Type="http://schemas.openxmlformats.org/officeDocument/2006/relationships/slide" Target="/ppt/slides/slide7.xml" Id="R5d5cf09158454f8e" /><Relationship Type="http://schemas.openxmlformats.org/officeDocument/2006/relationships/slide" Target="/ppt/slides/slide8.xml" Id="Rebb09d088c1e4da2" /><Relationship Type="http://schemas.openxmlformats.org/officeDocument/2006/relationships/slide" Target="/ppt/slides/slide9.xml" Id="Rbabff785cb9e4532" /><Relationship Type="http://schemas.openxmlformats.org/officeDocument/2006/relationships/slide" Target="/ppt/slides/slide10.xml" Id="R32da68558a994885" /><Relationship Type="http://schemas.openxmlformats.org/officeDocument/2006/relationships/slide" Target="/ppt/slides/slide11.xml" Id="R02fb39f816f5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55fd06534240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63333b2634dc4" /><Relationship Type="http://schemas.openxmlformats.org/officeDocument/2006/relationships/notesMaster" Target="/ppt/notesMasters/notesMaster1.xml" Id="R0990157127af48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7e847ae614342" /><Relationship Type="http://schemas.openxmlformats.org/officeDocument/2006/relationships/notesMaster" Target="/ppt/notesMasters/notesMaster1.xml" Id="R55e4a9b55fe346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1867dff0174a6c" /><Relationship Type="http://schemas.openxmlformats.org/officeDocument/2006/relationships/notesMaster" Target="/ppt/notesMasters/notesMaster1.xml" Id="Rf9fd7d9a24e849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f34134bf8b4824" /><Relationship Type="http://schemas.openxmlformats.org/officeDocument/2006/relationships/notesMaster" Target="/ppt/notesMasters/notesMaster1.xml" Id="R0cdd22404a0945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4dd998f3ba4908" /><Relationship Type="http://schemas.openxmlformats.org/officeDocument/2006/relationships/notesMaster" Target="/ppt/notesMasters/notesMaster1.xml" Id="Re11c36caabb043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d3505e70a34d17" /><Relationship Type="http://schemas.openxmlformats.org/officeDocument/2006/relationships/notesMaster" Target="/ppt/notesMasters/notesMaster1.xml" Id="Rc7f2e21048b04e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efcf9645448cf" /><Relationship Type="http://schemas.openxmlformats.org/officeDocument/2006/relationships/notesMaster" Target="/ppt/notesMasters/notesMaster1.xml" Id="Rc203bd68dcb94e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b8316e42a84ef4" /><Relationship Type="http://schemas.openxmlformats.org/officeDocument/2006/relationships/notesMaster" Target="/ppt/notesMasters/notesMaster1.xml" Id="R6f31a54cf45a4e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0220645d274a2b" /><Relationship Type="http://schemas.openxmlformats.org/officeDocument/2006/relationships/notesMaster" Target="/ppt/notesMasters/notesMaster1.xml" Id="R81a698dee4c240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adc4b3b193408e" /><Relationship Type="http://schemas.openxmlformats.org/officeDocument/2006/relationships/notesMaster" Target="/ppt/notesMasters/notesMaster1.xml" Id="R6e269ceca32d4f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a501690ba2437e" /><Relationship Type="http://schemas.openxmlformats.org/officeDocument/2006/relationships/notesMaster" Target="/ppt/notesMasters/notesMaster1.xml" Id="R5e05dc41b4a1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Local project assets/comproscanner_logo.png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https://pubs.rsc.org/en/content/articlehtml/2026/dd/d5dd00521c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https://pubs.rsc.org/en/content/articlehtml/2026/dd/d5dd00521c</a:t>
            </a:r>
          </a:p>
          <a:p xmlns:a="http://schemas.openxmlformats.org/drawingml/2006/main">
            <a:r>
              <a:t>Local project assets/overall_workflow.png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https://pubs.rsc.org/en/content/articlehtml/2026/dd/d5dd00521c</a:t>
            </a:r>
          </a:p>
          <a:p xmlns:a="http://schemas.openxmlformats.org/drawingml/2006/main">
            <a:r>
              <a:t>F:/Python_Project/ComProScanner/docs/usage/data-extraction.md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https://pubs.rsc.org/en/content/articlehtml/2026/dd/d5dd00521c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 commits c5470f4 and Tc pipeline changes</a:t>
            </a:r>
          </a:p>
          <a:p xmlns:a="http://schemas.openxmlformats.org/drawingml/2006/main">
            <a:r>
              <a:t>F:/Python_Project/ComProScanner/src/comproscanner/utils/data_preparator.py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Gold review workbook and user-approved article-scope criteria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F:/Python_Project/ComProScanner/outputs/tc_article_scope_gold_30_final/prediction_vs_gold_001_030_final_metrics.json</a:t>
            </a:r>
          </a:p>
          <a:p xmlns:a="http://schemas.openxmlformats.org/drawingml/2006/main">
            <a:r>
              <a:t>Independent 30-paper Gold omission audit; Paper 11 pending inclusion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F:/Python_Project/ComProScanner/outputs/tc_article_scope_gold_30_final/prediction_vs_gold_001_030_final_metrics.json</a:t>
            </a:r>
          </a:p>
          <a:p xmlns:a="http://schemas.openxmlformats.org/drawingml/2006/main">
            <a:r>
              <a:t>Paper 11 source PDF visual audit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https://pubs.rsc.org/en/content/articlehtml/2026/dd/d5dd00521c</a:t>
            </a:r>
          </a:p>
          <a:p xmlns:a="http://schemas.openxmlformats.org/drawingml/2006/main">
            <a:r>
              <a:t>Local Tc preset architecture and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synthesis based on the ComProScanner paper and current local Tc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0819113a8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a24320a5e64af6" /><Relationship Type="http://schemas.openxmlformats.org/officeDocument/2006/relationships/slideLayout" Target="/ppt/slideLayouts/slideLayout1.xml" Id="R5e528a5ef9c9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28a5ef9c9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81def066f486c" /><Relationship Type="http://schemas.openxmlformats.org/officeDocument/2006/relationships/image" Target="/ppt/media/image.png" Id="R66f79a57e9bc4d9e" /><Relationship Type="http://schemas.openxmlformats.org/officeDocument/2006/relationships/notesSlide" Target="/ppt/notesSlides/notesSlide1.xml" Id="Rfec453e9669d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afda505af43a1" /><Relationship Type="http://schemas.openxmlformats.org/officeDocument/2006/relationships/notesSlide" Target="/ppt/notesSlides/notesSlide2.xml" Id="R91f8262240ef4d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fed7363024b6e" /><Relationship Type="http://schemas.openxmlformats.org/officeDocument/2006/relationships/image" Target="/ppt/media/image2.png" Id="R7ade1d3bf86c48bf" /><Relationship Type="http://schemas.openxmlformats.org/officeDocument/2006/relationships/notesSlide" Target="/ppt/notesSlides/notesSlide3.xml" Id="R5e9cc49370e040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d825dce044c00" /><Relationship Type="http://schemas.openxmlformats.org/officeDocument/2006/relationships/notesSlide" Target="/ppt/notesSlides/notesSlide4.xml" Id="R1b662f229f79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10b8fd51a4c0a" /><Relationship Type="http://schemas.openxmlformats.org/officeDocument/2006/relationships/notesSlide" Target="/ppt/notesSlides/notesSlide5.xml" Id="R9244af94f490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58ac9732141ab" /><Relationship Type="http://schemas.openxmlformats.org/officeDocument/2006/relationships/notesSlide" Target="/ppt/notesSlides/notesSlide6.xml" Id="R529a0e57e234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e0a8fe9e14702" /><Relationship Type="http://schemas.openxmlformats.org/officeDocument/2006/relationships/notesSlide" Target="/ppt/notesSlides/notesSlide7.xml" Id="R226c5bcdbed542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0b2c961324ea3" /><Relationship Type="http://schemas.openxmlformats.org/officeDocument/2006/relationships/chart" Target="/ppt/slides/charts/chart1.xml" Id="Raf9d0e4bb8bb432b" /><Relationship Type="http://schemas.openxmlformats.org/officeDocument/2006/relationships/notesSlide" Target="/ppt/notesSlides/notesSlide8.xml" Id="R3a795bab0710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9b7704e3a4821" /><Relationship Type="http://schemas.openxmlformats.org/officeDocument/2006/relationships/notesSlide" Target="/ppt/notesSlides/notesSlide9.xml" Id="R7ada311a7fd643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be8dfbe86459a" /><Relationship Type="http://schemas.openxmlformats.org/officeDocument/2006/relationships/notesSlide" Target="/ppt/notesSlides/notesSlide10.xml" Id="R95dde080a64e4c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014a770fb4586" /><Relationship Type="http://schemas.openxmlformats.org/officeDocument/2006/relationships/notesSlide" Target="/ppt/notesSlides/notesSlide11.xml" Id="R596175da25664bd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当前45条Gold（%）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F1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93.33</c:v>
              </c:pt>
              <c:pt idx="2">
                <c:v>96.55</c:v>
              </c:pt>
            </c:numLit>
          </c:val>
        </c:ser>
        <c:ser>
          <c:idx val="1"/>
          <c:order val="1"/>
          <c:tx>
            <c:v>补入Paper 11后（%）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F1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91.3</c:v>
              </c:pt>
              <c:pt idx="2">
                <c:v>95.45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2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79a57e9bc4d9e"/>
          <a:stretch xmlns:a="http://schemas.openxmlformats.org/drawingml/2006/main"/>
        </p:blipFill>
        <p:spPr>
          <a:xfrm xmlns:a="http://schemas.openxmlformats.org/drawingml/2006/main">
            <a:off x="7239000" y="1042755"/>
            <a:ext cx="4000500" cy="10958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B4CAD-7C56-41A3-BE64-CAE80A2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ComProScanner与Tc</a:t>
            </a:r>
          </a:p>
          <a:p xmlns:a="http://schemas.openxmlformats.org/drawingml/2006/main">
            <a:pPr algn="l">
              <a:defRPr sz="4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材料性能抽取实践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19786-9D89-49E7-840B-CF269214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从通用多智能体框架到Curie temperature专用适配、验证与扩展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44F77-96A6-4B7B-9542-025BAAD4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75DC4-7F26-4D0F-BAF2-9C59038D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项目阶段汇报 · 30篇论文验证</a:t>
            </a:r>
          </a:p>
        </p:txBody>
      </p:sp>
    </p:spTree>
    <p:extLst>
      <p:ext uri="{BB962C8B-B14F-4D97-AF65-F5344CB8AC3E}">
        <p14:creationId xmlns:p14="http://schemas.microsoft.com/office/powerpoint/2010/main" val="7982900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16AC6-5FCC-4F3F-A83C-18FF0CC7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论文的核心任务：把论文转化为可计算数据库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4CCC7-9150-48A6-A966-FC41E963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7453A-E9F4-4ADE-8396-2717FC8A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1E025-4E6B-43CE-BB74-C57940F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材料数据长期埋藏在正文与表格中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48DAC-A00D-4E12-8F1A-2EE5AFD6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69202-8592-45B8-ADB7-34F32F09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化学式复杂，变量、掺杂与复合体系难以标准化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7A2AA-4734-4DC0-8AAB-104E5A08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CD19D-4D26-4DD1-A7A1-7918A81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材料与性能数值容易错配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6F409-839E-432E-B220-B3342453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7C242-6DED-4FB4-86CB-44725B6A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出版社和全文格式不统一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8676F-F5EC-4AB6-8213-96ABFB14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1F817-DF1C-4972-A1B7-EF33EC0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人工整理难以扩展到成百上千篇论文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B21DB-72B5-4A18-B6E8-37F8E1D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43050"/>
            <a:ext cx="51435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9F871-8F6C-43F9-91DB-429D9A79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ComProScanner的回答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71A4C-39E6-47C8-88E9-DA510892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3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一个“出版社 → 数据库”的自动化框架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97033-01E5-4D67-BEF7-27551F11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自动完成文献获取、相关性判断、组成—性能抽取、合成信息整理、清洗、评价和可视化。</a:t>
            </a:r>
          </a:p>
        </p:txBody>
      </p:sp>
    </p:spTree>
    <p:extLst>
      <p:ext uri="{BB962C8B-B14F-4D97-AF65-F5344CB8AC3E}">
        <p14:creationId xmlns:p14="http://schemas.microsoft.com/office/powerpoint/2010/main" val="736726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A3EC3-48AF-48F0-9B61-D809BEB0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原始框架由四个连续阶段组成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19012-83A3-4EF6-A51D-5955343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5B90B-7146-4013-97EA-7AC4ED0E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e1d3bf86c48bf"/>
          <a:stretch xmlns:a="http://schemas.openxmlformats.org/drawingml/2006/main"/>
        </p:blipFill>
        <p:spPr>
          <a:xfrm xmlns:a="http://schemas.openxmlformats.org/drawingml/2006/main">
            <a:off x="704850" y="1437237"/>
            <a:ext cx="10763250" cy="46502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270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11C4-4840-4EB4-8CBE-EEEBB777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多智能体不是重复提问，而是分工与校验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FA01E-D924-4AE1-82F6-B1A144E8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5AF9C-286E-4A25-8EE4-B576114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858BD-7CD1-44BB-AFC8-B8475B06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AAFF5-CBDF-48F4-979D-ABD796B7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1854D-802D-4527-81B6-F3B5F98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8A8D9-D788-420B-A38E-EDCD46C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RAG检索目标属性</a:t>
            </a:r>
          </a:p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相关性预筛</a:t>
            </a:r>
          </a:p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避免无关论文进入昂贵流程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E932A-991A-4836-A3B8-177849D8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301AC-86A2-4ED8-9B0C-CE22C0EB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996C5-67BA-49E9-AAE0-8C36843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再抽取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AF0BB-9971-4D9D-B026-30351C7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组成—性能键值对</a:t>
            </a:r>
          </a:p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合成方法与前驱体</a:t>
            </a:r>
          </a:p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关键步骤与表征方法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26F77-43F9-4FB2-8E4D-2899E5BA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C053A-D94E-436A-A3A1-23E9EA7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B01FC-6100-4D8C-8BA8-AD190B67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最后格式化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964BB-4F8E-4D28-83AA-7707D97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化学式解析与展开</a:t>
            </a:r>
          </a:p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统一单位和结构</a:t>
            </a:r>
          </a:p>
          <a:p xmlns:a="http://schemas.openxmlformats.org/drawingml/2006/main">
            <a:pPr algn="l">
              <a:def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输出JSON /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6BC18-F422-4D35-BDAA-598D5EC3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核心输出：composition_data.compositions_property_values</a:t>
            </a:r>
          </a:p>
        </p:txBody>
      </p:sp>
    </p:spTree>
    <p:extLst>
      <p:ext uri="{BB962C8B-B14F-4D97-AF65-F5344CB8AC3E}">
        <p14:creationId xmlns:p14="http://schemas.microsoft.com/office/powerpoint/2010/main" val="3618068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00B5C-4097-4DA4-BABF-ADA2B01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原论文用100篇压电论文验证通用抽取能力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F3133-C887-4BFA-BBAB-A91E755D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7AEB8-9C2B-4D43-8D69-74AF2A36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5C95B-B98C-4669-9743-BDB6646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1FE0B-81F4-4071-A1AB-6430AE40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210C1-43BD-400C-BDBB-5216E7E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测试论文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170C5-BD75-4DFA-990D-E585DE5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223EA-9F97-4198-B43D-FAA865A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193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B8E1E-48CB-4169-B934-7C78B404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43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对比LLM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FE2A0-E89B-4209-823E-4D370CBA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E4C8D-15E6-4869-89A7-071913F0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91F19-A0AA-4523-8FAC-204B137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最佳综合准确度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1D0F5-1360-4895-817B-5799AEA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任务：从压电陶瓷文献中抽取复杂材料组成及对应d₃₃；DeepSeek-V3-0324在论文比较中表现最好。</a:t>
            </a:r>
          </a:p>
        </p:txBody>
      </p:sp>
    </p:spTree>
    <p:extLst>
      <p:ext uri="{BB962C8B-B14F-4D97-AF65-F5344CB8AC3E}">
        <p14:creationId xmlns:p14="http://schemas.microsoft.com/office/powerpoint/2010/main" val="15771880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80B58-CBC8-4E87-83BD-27D3CB11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我们的工作：用最小改动把通用框架适配到Tc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A776E-9653-4321-AA8D-0276A879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62EB3-E2EA-4D40-9A6D-F68BCC7E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5DAB3-AD18-494A-A370-0C8CA7C6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保留的主体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11041-37AD-48AF-8573-2E914C3D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C1BFB-B734-4F80-AFDE-652AA0E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原有PDF处理与RAG链路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AB1BA-AE13-49CB-8AB4-AB10416F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4642E-96D8-483A-9ABB-1EE50F4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多智能体抽取与JSON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2EF14-9C5A-4649-BF34-F2B6588C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3EA49-80FF-4F4B-A0E7-9EA5A80C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composition_data输出结构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BB5ED-D0F1-4718-B46B-B3393332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72C6D-38CF-4D01-A083-5C0FDD0E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清洗、日志和批处理机制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723FA-BA27-4994-9EEE-18E21B4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Tc专用适配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F1DD0-27C7-4092-9C5A-89BEE68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95A79-F363-43C4-96F9-A887FE02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Tc preset与专用预筛词表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FD62D-8C73-4774-8764-FD2BC961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7ACC4-51DC-4A82-8C4A-D1BD2A17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本地PDF允许缺失DOI继续执行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B20AB-67DE-4610-9AF1-3E89C50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E9ED8-DD3C-49E9-B386-95520DC4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180 s抽取超时与单篇失败隔离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6981C-2497-4C8B-88A9-05039FB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7A005-1E80-41FD-9D5A-9A8C2894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NUL文本清洗修复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01CA3-E180-4E6F-AA7D-A43D205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695F2-DAFC-4343-B910-2787526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全文范围：研究、背景、比较和引用事实</a:t>
            </a:r>
          </a:p>
        </p:txBody>
      </p:sp>
    </p:spTree>
    <p:extLst>
      <p:ext uri="{BB962C8B-B14F-4D97-AF65-F5344CB8AC3E}">
        <p14:creationId xmlns:p14="http://schemas.microsoft.com/office/powerpoint/2010/main" val="17884918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2E537-F0A7-4090-803A-B008B5FC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Gold标准决定模型到底在优化什么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5E65C-A853-4FAB-8F95-77B08974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14F55-9713-4CDB-BDDF-7BAA5D2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7CAE-2525-4682-B2CD-7739C97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48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4443A-91EC-477D-B985-B6539AC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048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9EEB-5550-4308-941B-04B3ADD6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8A63"/>
                </a:solidFill>
                <a:latin typeface="Microsoft YaHei"/>
                <a:ea typeface="Microsoft YaHei"/>
                <a:cs typeface="Microsoft YaHei"/>
              </a:rPr>
              <a:t>纳入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EE5E2-9981-431B-AB48-91B93036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4155-7839-4CC1-BEB2-9248304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明确的材料—Tc数值关系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83713-E354-4B8B-A3BE-0469A828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DF0AA-CC82-4DC6-BC69-030C2F1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本文研究材料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291E3-ECC0-49E5-84E1-A423929D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39CB4-CC5E-4955-B4D7-BA0F909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背景、对比与引用材料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370DF-A4AB-4EC3-B51A-2C3E480E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0EEEC-0380-4564-8631-D46EDE88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磁性或铁电Curie temperature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D98F5-709B-4710-9D8D-FD93D09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87C17-3233-49EA-AEF4-094BA491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材料别名和等价公式允许语义对应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0BD78-3E7D-47E7-A9CF-FC0DE567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526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排除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DDA04-F3FD-4323-8650-BDEE0BC5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D618C-839B-4122-93F4-7C1699D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Néel temperature（TN）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C9EEA-278F-42A1-B65E-C3CFC090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5695D-9707-4477-B4D5-1E26CA00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频率相关Tm / relaxor峰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42A92-C91A-44CC-8E42-1D59B31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E2A14-4F1B-4B66-ABB2-FE60C2E4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合成、烧结、退火或测量温度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5350B-71C0-4516-9504-12391534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1B0A5-7A63-49D4-86B3-F704BBF3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只有上限、下限或范围而无明确标量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BAF1E-DD46-4404-9211-B55FB6F9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7AE38B-982C-434C-96DA-6665393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387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材料与温度无法可靠绑定</a:t>
            </a:r>
          </a:p>
        </p:txBody>
      </p:sp>
    </p:spTree>
    <p:extLst>
      <p:ext uri="{BB962C8B-B14F-4D97-AF65-F5344CB8AC3E}">
        <p14:creationId xmlns:p14="http://schemas.microsoft.com/office/powerpoint/2010/main" val="3049523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F8F5A-D670-4516-8B4D-A5384064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30篇Tc验证：当前优势是零假阳性，主要风险是漏检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82DB2-408E-4DA1-BCD2-1CB42B8D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961D0-EE36-43C7-AA67-C4B4B7D2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52450" y="161925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d0e4bb8bb432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4D85B-05DD-4990-ACF8-AF4A8C41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57D8D-EE9F-4405-A7C0-A54B4E5A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当前正式口径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D8A26-B2EA-4B9B-B8D4-79F15F5A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Gold 45 · Prediction 42</a:t>
            </a:r>
          </a:p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TP 42 · FP 0 · FN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E9502-EEB5-40CA-8288-C50D6A9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5762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独立复核发现Paper 11的BaTiO₃ ≈120 °C可能应补入；确认后Gold变为46，FN变为4。</a:t>
            </a:r>
          </a:p>
        </p:txBody>
      </p:sp>
    </p:spTree>
    <p:extLst>
      <p:ext uri="{BB962C8B-B14F-4D97-AF65-F5344CB8AC3E}">
        <p14:creationId xmlns:p14="http://schemas.microsoft.com/office/powerpoint/2010/main" val="17480553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F7C96-5C1E-48DE-B77C-E26765E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错误分析显示：过滤与召回比数值幻觉更值得优先修复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17F50-B58B-4631-836C-EBEB75F7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D83CA-0AE6-444B-965D-384B9076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4953000"/>
                <a:gridCol w="1905000"/>
                <a:gridCol w="2571750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BiFeO₃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1103 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 11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BaTiO₃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≈120 °C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复核新增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 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未掺杂BFO–PTO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650 °C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 25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La取代BFO–PTO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227 °C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D67AD-AFDB-4F2C-B724-B56F042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结论：模型抽出的42条均可接受；下一步重点是提高全文召回，同时保持背景事实不过滤。</a:t>
            </a:r>
          </a:p>
        </p:txBody>
      </p:sp>
    </p:spTree>
    <p:extLst>
      <p:ext uri="{BB962C8B-B14F-4D97-AF65-F5344CB8AC3E}">
        <p14:creationId xmlns:p14="http://schemas.microsoft.com/office/powerpoint/2010/main" val="17603740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7A4F6-EEED-4E17-BD5C-15B3811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扩展到Ms等性质时，主体代码无需重写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88CE4-DFBF-43ED-A47F-7B69EDF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CED2E-A0F7-402E-B214-65E7456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B7B66-3A37-45C6-A638-E420DE8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F71A9-FEB3-418E-8541-4D54F770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EBF92-5116-462D-802C-641BC4D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属性定义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0A09A-7E8C-4937-A22B-6945F38E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Ms的物理含义、单位与边界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31673-4857-4FD3-A298-9F73EB7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A0611-52CE-4E2D-BFA7-5FBECEB5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8B7B5-EF1F-4672-8B48-21375D6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2F10E-D6C0-4ED5-AD2B-859530E3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7662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关键词、查询和模型参数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980BC-2020-4BED-8B58-9D88131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F8ED3-1D07-4117-9022-51628305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09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4B40E-F162-4B10-B15C-69B9F171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科学提示词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6895A-0DD6-4165-A95D-A830CE8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7662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材料—数值绑定与排除规则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5A24E-FB3B-49B2-972D-BB92A3DC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C49FF-0D47-40C6-8430-F8C4D813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AC255-6F5D-4169-871F-C7C5457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4E615-FE21-4C9C-8349-6E14E68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7662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单位、条件和必要上下文字段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30120-D22D-49E8-86D2-2869D04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9406A-1005-4550-84AD-22B0E74A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09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CCDE4-6BE1-4455-8006-8405C76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Gold与评价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552F4-3E35-4585-90F7-C147AC6B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6"/>
                </a:solidFill>
                <a:latin typeface="Microsoft YaHei"/>
                <a:ea typeface="Microsoft YaHei"/>
                <a:cs typeface="Microsoft YaHei"/>
              </a:rPr>
              <a:t>人工审核 + P/R/F1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73E8F-6FCB-4002-8DC4-6251D85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可扩展属性示例：Ms、Mr、Hc、TN、d₃₃、介电常数、带隙、热导率</a:t>
            </a:r>
          </a:p>
        </p:txBody>
      </p:sp>
    </p:spTree>
    <p:extLst>
      <p:ext uri="{BB962C8B-B14F-4D97-AF65-F5344CB8AC3E}">
        <p14:creationId xmlns:p14="http://schemas.microsoft.com/office/powerpoint/2010/main" val="17405843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547A3-EFBC-4BED-B9B5-BD7EC8B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A0DED-EE18-4FF5-8AAE-20BAF3A1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通用框架已经具备，</a:t>
            </a:r>
          </a:p>
          <a:p xmlns:a="http://schemas.openxmlformats.org/drawingml/2006/main">
            <a:pPr algn="l">
              <a:def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真正的工作在于定义属性标准并建立可信Gold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59B37-19AD-48ED-9462-F972A80D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B3FCB-38AB-4A8B-9CD3-D137E34F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完成Paper 11最终确认，冻结30篇Gold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74132-1147-43C9-8CD4-AE278521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377A3-3D42-4775-8368-BE58384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继续扩大Tc语料并分析漏检来源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0C96-5E22-4E43-BE79-B0F403B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ACB73-6598-4EA9-8D4A-74F7AFB0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复制属性适配层，启动Ms小规模Dev验证</a:t>
            </a:r>
          </a:p>
        </p:txBody>
      </p:sp>
    </p:spTree>
    <p:extLst>
      <p:ext uri="{BB962C8B-B14F-4D97-AF65-F5344CB8AC3E}">
        <p14:creationId xmlns:p14="http://schemas.microsoft.com/office/powerpoint/2010/main" val="1998066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2026-08-22T14:28:21.4660000Z</dcterms:created>
  <dcterms:modified xsi:type="dcterms:W3CDTF">2026-08-22T14:28:21.4660000Z</dcterms:modified>
</coreProperties>
</file>