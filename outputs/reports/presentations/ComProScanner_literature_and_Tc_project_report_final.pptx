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5" r:id="rId2"/>
    <p:sldId id="258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3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https://pubs.rsc.org/en/content/articlelanding/2026/dd/d5dd00521c</a:t>
            </a:r>
          </a:p>
          <a:p>
            <a:r>
              <a:t>https://doi.org/10.1039/D5DD00521C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https://doi.org/10.1039/D5DD00521C</a:t>
            </a:r>
          </a:p>
          <a:p>
            <a:r>
              <a:t>F:/Python_Project/ComProScanner/assets/overall_workflow.png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https://doi.org/10.1039/D5DD00521C</a:t>
            </a:r>
          </a:p>
          <a:p>
            <a:r>
              <a:t>F:/Python_Project/ComProScanner/docs/assets/flow_diagram.png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https://doi.org/10.1039/D5DD00521C</a:t>
            </a:r>
          </a:p>
          <a:p>
            <a:r>
              <a:t>F:/Python_Project/ComProScanner/examples/db/README.md</a:t>
            </a:r>
          </a:p>
          <a:p>
            <a:r>
              <a:t>F:/Python_Project/ComProScanner/examples/piezo_test/eval-results/semantic-evaluation/deepseek-v3-0324-semantic-evaluation-results.json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F:/Python_Project/ComProScanner/src/comproscanner/presets/curie_temperature.py</a:t>
            </a:r>
          </a:p>
          <a:p>
            <a:r>
              <a:t>F:/Python_Project/ComProScanner/src/comproscanner/utils/data_preparator.py</a:t>
            </a:r>
          </a:p>
          <a:p>
            <a:r>
              <a:t>F:/Python_Project/ComProScanner/src/comproscanner/article_processors/pdfs_processor.py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F:/Python_Project/ComProScanner/outputs/tc_article_scope_gold_30_final/prediction_vs_gold_001_030_final_metrics.json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F:/Python_Project/ComProScanner/src/comproscanner/presets/curie_temperature.py</a:t>
            </a:r>
          </a:p>
          <a:p>
            <a:r>
              <a:t>F:/Python_Project/ComProScanner/src/comproscanner/extract_flow/main_extraction_flow.py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5A70348-517C-4BDD-87DB-8903A135A32E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文献信息：ComProScanner 论文的作者与出版信息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56266D-0DFD-4999-BB5F-AE3B75F69F7C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633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536B20-B9B6-4C9E-8438-A86C8C933943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19BB88-7D60-4EDB-A6A5-D5070C7DC21B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2476500" cy="2619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43A17D-78C4-4A75-8D60-6A1BF45DE5C4}"/>
              </a:ext>
            </a:extLst>
          </p:cNvPr>
          <p:cNvSpPr>
            <a:spLocks noGrp="1"/>
          </p:cNvSpPr>
          <p:nvPr/>
        </p:nvSpPr>
        <p:spPr>
          <a:xfrm>
            <a:off x="7143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4484C0-1CA7-4E19-B5CF-E3E490C29DA2}"/>
              </a:ext>
            </a:extLst>
          </p:cNvPr>
          <p:cNvSpPr>
            <a:spLocks noGrp="1"/>
          </p:cNvSpPr>
          <p:nvPr/>
        </p:nvSpPr>
        <p:spPr>
          <a:xfrm>
            <a:off x="7143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作者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6AEB51-1EE9-4505-B019-114D193813E8}"/>
              </a:ext>
            </a:extLst>
          </p:cNvPr>
          <p:cNvSpPr>
            <a:spLocks noGrp="1"/>
          </p:cNvSpPr>
          <p:nvPr/>
        </p:nvSpPr>
        <p:spPr>
          <a:xfrm>
            <a:off x="7143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210" lnSpcReduction="1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Aritra Roy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Enrico Grisan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John Buckeridge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Chiara Gattinoni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5D8BD9-C546-4106-8D11-D17424C0478B}"/>
              </a:ext>
            </a:extLst>
          </p:cNvPr>
          <p:cNvSpPr>
            <a:spLocks noGrp="1"/>
          </p:cNvSpPr>
          <p:nvPr/>
        </p:nvSpPr>
        <p:spPr>
          <a:xfrm>
            <a:off x="3381375" y="2143125"/>
            <a:ext cx="2476500" cy="2619375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397BC0-20FC-462F-994F-21B525D9D790}"/>
              </a:ext>
            </a:extLst>
          </p:cNvPr>
          <p:cNvSpPr>
            <a:spLocks noGrp="1"/>
          </p:cNvSpPr>
          <p:nvPr/>
        </p:nvSpPr>
        <p:spPr>
          <a:xfrm>
            <a:off x="35718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732168-BE95-4AF6-B2D5-A651F2765523}"/>
              </a:ext>
            </a:extLst>
          </p:cNvPr>
          <p:cNvSpPr>
            <a:spLocks noGrp="1"/>
          </p:cNvSpPr>
          <p:nvPr/>
        </p:nvSpPr>
        <p:spPr>
          <a:xfrm>
            <a:off x="35718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期刊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D6391F-0CF4-4260-990C-CDA60AE216DC}"/>
              </a:ext>
            </a:extLst>
          </p:cNvPr>
          <p:cNvSpPr>
            <a:spLocks noGrp="1"/>
          </p:cNvSpPr>
          <p:nvPr/>
        </p:nvSpPr>
        <p:spPr>
          <a:xfrm>
            <a:off x="35718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210" lnSpcReduction="1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Digital Discovery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Royal Society of Chemistry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2026 · Vol. 5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pp. 1794–1808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E76707-06E1-42C4-B8CF-C50DF70782F1}"/>
              </a:ext>
            </a:extLst>
          </p:cNvPr>
          <p:cNvSpPr>
            <a:spLocks noGrp="1"/>
          </p:cNvSpPr>
          <p:nvPr/>
        </p:nvSpPr>
        <p:spPr>
          <a:xfrm>
            <a:off x="6238875" y="2143125"/>
            <a:ext cx="2476500" cy="2619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A7633D-4031-4B20-A777-2E98638A301A}"/>
              </a:ext>
            </a:extLst>
          </p:cNvPr>
          <p:cNvSpPr>
            <a:spLocks noGrp="1"/>
          </p:cNvSpPr>
          <p:nvPr/>
        </p:nvSpPr>
        <p:spPr>
          <a:xfrm>
            <a:off x="64293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89C01F-5358-4E5B-8125-02FF747C76A4}"/>
              </a:ext>
            </a:extLst>
          </p:cNvPr>
          <p:cNvSpPr>
            <a:spLocks noGrp="1"/>
          </p:cNvSpPr>
          <p:nvPr/>
        </p:nvSpPr>
        <p:spPr>
          <a:xfrm>
            <a:off x="64293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发表时间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FF0FDE-CD46-468A-9660-D3B199350434}"/>
              </a:ext>
            </a:extLst>
          </p:cNvPr>
          <p:cNvSpPr>
            <a:spLocks noGrp="1"/>
          </p:cNvSpPr>
          <p:nvPr/>
        </p:nvSpPr>
        <p:spPr>
          <a:xfrm>
            <a:off x="64293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14" lnSpcReduction="1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投稿：2025-11-24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接收：2026-03-19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在线发表：2026-03-25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515A73-8DDD-4F92-ABDB-AF2EC577F340}"/>
              </a:ext>
            </a:extLst>
          </p:cNvPr>
          <p:cNvSpPr>
            <a:spLocks noGrp="1"/>
          </p:cNvSpPr>
          <p:nvPr/>
        </p:nvSpPr>
        <p:spPr>
          <a:xfrm>
            <a:off x="9096375" y="2143125"/>
            <a:ext cx="2476500" cy="2619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0DCC47-FF40-4470-B54E-35B2ED828D03}"/>
              </a:ext>
            </a:extLst>
          </p:cNvPr>
          <p:cNvSpPr>
            <a:spLocks noGrp="1"/>
          </p:cNvSpPr>
          <p:nvPr/>
        </p:nvSpPr>
        <p:spPr>
          <a:xfrm>
            <a:off x="92868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E5BE00-1696-4FBE-B0F3-84D6E303AC96}"/>
              </a:ext>
            </a:extLst>
          </p:cNvPr>
          <p:cNvSpPr>
            <a:spLocks noGrp="1"/>
          </p:cNvSpPr>
          <p:nvPr/>
        </p:nvSpPr>
        <p:spPr>
          <a:xfrm>
            <a:off x="92868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标识与类型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97413E-A4BB-4139-B18B-ABDE68E05744}"/>
              </a:ext>
            </a:extLst>
          </p:cNvPr>
          <p:cNvSpPr>
            <a:spLocks noGrp="1"/>
          </p:cNvSpPr>
          <p:nvPr/>
        </p:nvSpPr>
        <p:spPr>
          <a:xfrm>
            <a:off x="92868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145" lnSpcReduction="2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DOI: 10.1039/D5DD00521C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Article type: Paper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Open Access · CC BY 3.0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147CB6-8D04-4A92-B5B9-164C859CA39E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85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181"/>
          </a:bodyPr>
          <a:lstStyle/>
          <a:p>
            <a:pPr algn="l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完整题名：ComProScanner: a multi-agent based framework for composition-property structured data extraction from scientific literature</a:t>
            </a:r>
          </a:p>
        </p:txBody>
      </p:sp>
    </p:spTree>
    <p:extLst>
      <p:ext uri="{BB962C8B-B14F-4D97-AF65-F5344CB8AC3E}">
        <p14:creationId xmlns:p14="http://schemas.microsoft.com/office/powerpoint/2010/main" val="72663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E435C50-51BC-49B1-A237-DF1BCF9254B1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总体原理：四个阶段把论文变成结构化数据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060320-1830-4006-B913-3338E0F59EA8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633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0AA7ED-6E32-4A09-BCB1-8C690758E6F2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4501" y="1333500"/>
            <a:ext cx="1102299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8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2D15E24-A56B-4023-A2D5-0AAA387C7712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多智能体的核心是分工：判断、抽取、格式化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08B6D9-136F-4805-BB62-94C4675BE96E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633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4A8834-A1E0-42E5-A23A-7EB3BC141AE8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9939" y="1381125"/>
            <a:ext cx="4439121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BA0AEF6-42F2-4340-9081-9A39DBD05600}"/>
              </a:ext>
            </a:extLst>
          </p:cNvPr>
          <p:cNvSpPr>
            <a:spLocks noGrp="1"/>
          </p:cNvSpPr>
          <p:nvPr/>
        </p:nvSpPr>
        <p:spPr>
          <a:xfrm>
            <a:off x="7191375" y="15240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主要角色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5532A3-A761-4F46-A2F6-24EDF8FB7D3B}"/>
              </a:ext>
            </a:extLst>
          </p:cNvPr>
          <p:cNvSpPr>
            <a:spLocks noGrp="1"/>
          </p:cNvSpPr>
          <p:nvPr/>
        </p:nvSpPr>
        <p:spPr>
          <a:xfrm>
            <a:off x="7191375" y="2238375"/>
            <a:ext cx="95250" cy="95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F8B39C-A72F-4363-94E9-FB216B6CCBE8}"/>
              </a:ext>
            </a:extLst>
          </p:cNvPr>
          <p:cNvSpPr>
            <a:spLocks noGrp="1"/>
          </p:cNvSpPr>
          <p:nvPr/>
        </p:nvSpPr>
        <p:spPr>
          <a:xfrm>
            <a:off x="7429500" y="2143125"/>
            <a:ext cx="385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27" lnSpcReduction="10000"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Identifier：先判断文章中是否存在目标材料—性质事实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1520B4-1595-4FD3-A116-89F329D75558}"/>
              </a:ext>
            </a:extLst>
          </p:cNvPr>
          <p:cNvSpPr>
            <a:spLocks noGrp="1"/>
          </p:cNvSpPr>
          <p:nvPr/>
        </p:nvSpPr>
        <p:spPr>
          <a:xfrm>
            <a:off x="7191375" y="3000375"/>
            <a:ext cx="95250" cy="95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4E93A8-D58A-4491-B853-7091AA71E695}"/>
              </a:ext>
            </a:extLst>
          </p:cNvPr>
          <p:cNvSpPr>
            <a:spLocks noGrp="1"/>
          </p:cNvSpPr>
          <p:nvPr/>
        </p:nvSpPr>
        <p:spPr>
          <a:xfrm>
            <a:off x="7429500" y="2905125"/>
            <a:ext cx="385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893"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Extractor：抽取材料组成、性质值与合成信息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35569C-5CFF-4000-9258-4EC86263A598}"/>
              </a:ext>
            </a:extLst>
          </p:cNvPr>
          <p:cNvSpPr>
            <a:spLocks noGrp="1"/>
          </p:cNvSpPr>
          <p:nvPr/>
        </p:nvSpPr>
        <p:spPr>
          <a:xfrm>
            <a:off x="7191375" y="3762375"/>
            <a:ext cx="95250" cy="95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EE1A2A-CFE2-4823-A25A-240B9C0E7EAC}"/>
              </a:ext>
            </a:extLst>
          </p:cNvPr>
          <p:cNvSpPr>
            <a:spLocks noGrp="1"/>
          </p:cNvSpPr>
          <p:nvPr/>
        </p:nvSpPr>
        <p:spPr>
          <a:xfrm>
            <a:off x="7429500" y="3667125"/>
            <a:ext cx="385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40" lnSpcReduction="20000"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Formatter：解析变量组成并统一 JSON 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CAA568-F891-4168-B67E-C685C0B030DB}"/>
              </a:ext>
            </a:extLst>
          </p:cNvPr>
          <p:cNvSpPr>
            <a:spLocks noGrp="1"/>
          </p:cNvSpPr>
          <p:nvPr/>
        </p:nvSpPr>
        <p:spPr>
          <a:xfrm>
            <a:off x="7191375" y="4524375"/>
            <a:ext cx="95250" cy="95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4BB5E5-8D75-496D-9134-648315E1EFAC}"/>
              </a:ext>
            </a:extLst>
          </p:cNvPr>
          <p:cNvSpPr>
            <a:spLocks noGrp="1"/>
          </p:cNvSpPr>
          <p:nvPr/>
        </p:nvSpPr>
        <p:spPr>
          <a:xfrm>
            <a:off x="7429500" y="4429125"/>
            <a:ext cx="385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31"/>
          </a:bodyPr>
          <a:lstStyle/>
          <a:p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工具：RAG、公式解析、材料解析与图表识别</a:t>
            </a:r>
          </a:p>
        </p:txBody>
      </p:sp>
    </p:spTree>
    <p:extLst>
      <p:ext uri="{BB962C8B-B14F-4D97-AF65-F5344CB8AC3E}">
        <p14:creationId xmlns:p14="http://schemas.microsoft.com/office/powerpoint/2010/main" val="77378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2312A80-C018-4418-BE6A-4583C6972ED6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论文用100篇压电材料论文评估10种大模型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D4005B-1100-4CDC-9C68-7FB85B5278D8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633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94A6FF-3929-4A0D-A669-1AF1F2DF9299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9279CF-E460-4512-96E5-DFBE1995E1E7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评价不仅看数值，还检查组成、合成信息以及结构化结果是否与 Gold 一致。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02FEC0-E9EF-4E8F-B431-C39DD1C1F8A6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3333750" cy="2333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4EA67F-3688-4372-AD38-5103B60667DB}"/>
              </a:ext>
            </a:extLst>
          </p:cNvPr>
          <p:cNvSpPr>
            <a:spLocks noGrp="1"/>
          </p:cNvSpPr>
          <p:nvPr/>
        </p:nvSpPr>
        <p:spPr>
          <a:xfrm>
            <a:off x="828675" y="3095625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510C16-342A-4D1C-BD2D-15484D0A04D7}"/>
              </a:ext>
            </a:extLst>
          </p:cNvPr>
          <p:cNvSpPr>
            <a:spLocks noGrp="1"/>
          </p:cNvSpPr>
          <p:nvPr/>
        </p:nvSpPr>
        <p:spPr>
          <a:xfrm>
            <a:off x="828675" y="423862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测试论文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38A915-C7F7-4589-A12A-B6807D3D27F2}"/>
              </a:ext>
            </a:extLst>
          </p:cNvPr>
          <p:cNvSpPr>
            <a:spLocks noGrp="1"/>
          </p:cNvSpPr>
          <p:nvPr/>
        </p:nvSpPr>
        <p:spPr>
          <a:xfrm>
            <a:off x="4362450" y="2714625"/>
            <a:ext cx="3333750" cy="2333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142FCE-78A9-4411-990D-BE80FEE97155}"/>
              </a:ext>
            </a:extLst>
          </p:cNvPr>
          <p:cNvSpPr>
            <a:spLocks noGrp="1"/>
          </p:cNvSpPr>
          <p:nvPr/>
        </p:nvSpPr>
        <p:spPr>
          <a:xfrm>
            <a:off x="4600575" y="3095625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7BDBAF-CACA-41B9-B9C1-CAB6CA2F1352}"/>
              </a:ext>
            </a:extLst>
          </p:cNvPr>
          <p:cNvSpPr>
            <a:spLocks noGrp="1"/>
          </p:cNvSpPr>
          <p:nvPr/>
        </p:nvSpPr>
        <p:spPr>
          <a:xfrm>
            <a:off x="4600575" y="423862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语言模型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C44E24-02BE-47B9-81E8-F3637EFB9FC1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3333750" cy="2333625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79F766-F77C-4B08-8811-529F2CCD28EB}"/>
              </a:ext>
            </a:extLst>
          </p:cNvPr>
          <p:cNvSpPr>
            <a:spLocks noGrp="1"/>
          </p:cNvSpPr>
          <p:nvPr/>
        </p:nvSpPr>
        <p:spPr>
          <a:xfrm>
            <a:off x="8372475" y="3095625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0.82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4FAAF6-C98C-4044-82CA-8856272887FD}"/>
              </a:ext>
            </a:extLst>
          </p:cNvPr>
          <p:cNvSpPr>
            <a:spLocks noGrp="1"/>
          </p:cNvSpPr>
          <p:nvPr/>
        </p:nvSpPr>
        <p:spPr>
          <a:xfrm>
            <a:off x="8372475" y="423862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最佳综合准确率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227363-17FE-46F0-8AD0-EEF95EA1E669}"/>
              </a:ext>
            </a:extLst>
          </p:cNvPr>
          <p:cNvSpPr>
            <a:spLocks noGrp="1"/>
          </p:cNvSpPr>
          <p:nvPr/>
        </p:nvSpPr>
        <p:spPr>
          <a:xfrm>
            <a:off x="590550" y="542925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论文报告中 DeepSeek-V3-0324 表现最佳；这说明模型选择会显著影响最终数据库质量。</a:t>
            </a:r>
          </a:p>
        </p:txBody>
      </p:sp>
    </p:spTree>
    <p:extLst>
      <p:ext uri="{BB962C8B-B14F-4D97-AF65-F5344CB8AC3E}">
        <p14:creationId xmlns:p14="http://schemas.microsoft.com/office/powerpoint/2010/main" val="1571901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235F3C1-9CB5-4B1A-954A-2D178EB4B096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目前</a:t>
            </a:r>
            <a:r>
              <a:rPr sz="285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工作：以最小改动把通用链路适配为</a:t>
            </a:r>
            <a:r>
              <a:rPr sz="285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 Tc </a:t>
            </a:r>
            <a:r>
              <a:rPr sz="285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抽取器</a:t>
            </a:r>
            <a:endParaRPr sz="2850" b="1" dirty="0">
              <a:solidFill>
                <a:srgbClr val="0B12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D29AB7-B91E-418D-A104-5C25B0C2F3AD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633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3E8337-01AA-4916-A92A-6F26E5F7E462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B673CB60-9D14-4D0D-BE6B-85B4CD6FC09A}"/>
              </a:ext>
            </a:extLst>
          </p:cNvPr>
          <p:cNvSpPr>
            <a:spLocks noGrp="1"/>
          </p:cNvSpPr>
          <p:nvPr/>
        </p:nvSpPr>
        <p:spPr>
          <a:xfrm>
            <a:off x="904875" y="3143250"/>
            <a:ext cx="9620250" cy="22860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4A56A0-475B-46BC-82E5-2182CC0CDDB7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9E7006-17E6-4595-82E1-49ECBE787C37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Tc preset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DDFB7A-5660-4F86-94A0-351AA10997C7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158" lnSpcReduction="1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curie_temperature.py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定义 Tc 关键词、问题与 JSON 示例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FF453FB-98C6-463C-8CAB-F0BE6756FCA1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705263-42C6-4C8F-BC5C-9C4F6CC6F9CE}"/>
              </a:ext>
            </a:extLst>
          </p:cNvPr>
          <p:cNvSpPr>
            <a:spLocks noGrp="1"/>
          </p:cNvSpPr>
          <p:nvPr/>
        </p:nvSpPr>
        <p:spPr>
          <a:xfrm>
            <a:off x="3162300" y="2381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高召回预筛</a:t>
            </a:r>
            <a:endParaRPr sz="1650" b="1" dirty="0">
              <a:solidFill>
                <a:srgbClr val="0B12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739573-62D2-4449-8A79-943A9F61BEB7}"/>
              </a:ext>
            </a:extLst>
          </p:cNvPr>
          <p:cNvSpPr>
            <a:spLocks noGrp="1"/>
          </p:cNvSpPr>
          <p:nvPr/>
        </p:nvSpPr>
        <p:spPr>
          <a:xfrm>
            <a:off x="3162300" y="3714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扩大 Tc 候选范围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保留研究、背景、对比和引用事实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6A57EE-CF86-440D-B51B-C1A95F459E8C}"/>
              </a:ext>
            </a:extLst>
          </p:cNvPr>
          <p:cNvSpPr>
            <a:spLocks noGrp="1"/>
          </p:cNvSpPr>
          <p:nvPr/>
        </p:nvSpPr>
        <p:spPr>
          <a:xfrm>
            <a:off x="5905500" y="304800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30A0BC-035C-4B5E-88D0-68EBBDCA9E42}"/>
              </a:ext>
            </a:extLst>
          </p:cNvPr>
          <p:cNvSpPr>
            <a:spLocks noGrp="1"/>
          </p:cNvSpPr>
          <p:nvPr/>
        </p:nvSpPr>
        <p:spPr>
          <a:xfrm>
            <a:off x="5638800" y="2381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本地PDF</a:t>
            </a:r>
            <a:endParaRPr sz="1650" b="1" dirty="0">
              <a:solidFill>
                <a:srgbClr val="0B12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755075-6126-4AD0-BEBF-27ACFE032B8F}"/>
              </a:ext>
            </a:extLst>
          </p:cNvPr>
          <p:cNvSpPr>
            <a:spLocks noGrp="1"/>
          </p:cNvSpPr>
          <p:nvPr/>
        </p:nvSpPr>
        <p:spPr>
          <a:xfrm>
            <a:off x="5638800" y="3714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8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pdfs_processor.py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DOI </a:t>
            </a: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缺失时仍使用本地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PDF </a:t>
            </a: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正文</a:t>
            </a:r>
            <a:endParaRPr sz="1425" b="0" dirty="0">
              <a:solidFill>
                <a:srgbClr val="59657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8EF253-681B-4E8D-BFDB-454476B2E02C}"/>
              </a:ext>
            </a:extLst>
          </p:cNvPr>
          <p:cNvSpPr>
            <a:spLocks noGrp="1"/>
          </p:cNvSpPr>
          <p:nvPr/>
        </p:nvSpPr>
        <p:spPr>
          <a:xfrm>
            <a:off x="8382000" y="304800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6522C0-F4BC-4191-AA2B-8E9C1A942B4B}"/>
              </a:ext>
            </a:extLst>
          </p:cNvPr>
          <p:cNvSpPr>
            <a:spLocks noGrp="1"/>
          </p:cNvSpPr>
          <p:nvPr/>
        </p:nvSpPr>
        <p:spPr>
          <a:xfrm>
            <a:off x="8115300" y="2381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稳定性修复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940C42-F9FB-4E2E-BD27-0FBEE1E1339D}"/>
              </a:ext>
            </a:extLst>
          </p:cNvPr>
          <p:cNvSpPr>
            <a:spLocks noGrp="1"/>
          </p:cNvSpPr>
          <p:nvPr/>
        </p:nvSpPr>
        <p:spPr>
          <a:xfrm>
            <a:off x="7924800" y="3707506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单篇超时 180 s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data_preparator.py 清除 NUL 字符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D2F2F8-ED73-4CA2-A057-565F8A8B0F15}"/>
              </a:ext>
            </a:extLst>
          </p:cNvPr>
          <p:cNvSpPr>
            <a:spLocks noGrp="1"/>
          </p:cNvSpPr>
          <p:nvPr/>
        </p:nvSpPr>
        <p:spPr>
          <a:xfrm>
            <a:off x="10477500" y="304800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C1303C-D439-4004-9D90-195670228555}"/>
              </a:ext>
            </a:extLst>
          </p:cNvPr>
          <p:cNvSpPr>
            <a:spLocks noGrp="1"/>
          </p:cNvSpPr>
          <p:nvPr/>
        </p:nvSpPr>
        <p:spPr>
          <a:xfrm>
            <a:off x="10210800" y="23812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上下文窗口</a:t>
            </a:r>
            <a:endParaRPr sz="1650" b="1" dirty="0">
              <a:solidFill>
                <a:srgbClr val="0B12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5B0711-82E6-4970-8CDA-D9F6A3774547}"/>
              </a:ext>
            </a:extLst>
          </p:cNvPr>
          <p:cNvSpPr>
            <a:spLocks noGrp="1"/>
          </p:cNvSpPr>
          <p:nvPr/>
        </p:nvSpPr>
        <p:spPr>
          <a:xfrm>
            <a:off x="10163175" y="371475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命中句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±1 句</a:t>
            </a:r>
          </a:p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按原文顺序合并并去重</a:t>
            </a:r>
            <a:endParaRPr sz="1425" b="0" dirty="0">
              <a:solidFill>
                <a:srgbClr val="59657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9A1ED7-86A3-4198-AAC1-626B6D000A06}"/>
              </a:ext>
            </a:extLst>
          </p:cNvPr>
          <p:cNvSpPr>
            <a:spLocks noGrp="1"/>
          </p:cNvSpPr>
          <p:nvPr/>
        </p:nvSpPr>
        <p:spPr>
          <a:xfrm>
            <a:off x="704850" y="5286375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保持核心流程、Tc 科学提示词和 Schema 不变；模型固定为 DeepSeek / deepseek-v4-flash</a:t>
            </a:r>
          </a:p>
        </p:txBody>
      </p:sp>
    </p:spTree>
    <p:extLst>
      <p:ext uri="{BB962C8B-B14F-4D97-AF65-F5344CB8AC3E}">
        <p14:creationId xmlns:p14="http://schemas.microsoft.com/office/powerpoint/2010/main" val="93420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3D49D89-7C18-4F9E-BD2A-6B572482930B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我们的验证：人工 Gold 与模型 Prediction 逐条匹配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2C2B07-B126-458F-915C-FFAC2114F421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633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C34F2C-48B2-4876-8F46-73355ED5E2AA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9C2BD7-5035-4C5A-978B-C937A7BD9927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66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30 </a:t>
            </a:r>
            <a:r>
              <a:rPr sz="1725" b="0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篇论文由人工确认</a:t>
            </a:r>
            <a:r>
              <a:rPr sz="1725" b="0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 45 条 </a:t>
            </a:r>
            <a:r>
              <a:rPr sz="1725" b="0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Gold；按“材料</a:t>
            </a:r>
            <a:r>
              <a:rPr sz="1725" b="0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 + Tc </a:t>
            </a:r>
            <a:r>
              <a:rPr sz="1725" b="0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数值”匹配</a:t>
            </a:r>
            <a:endParaRPr sz="1725" b="0" dirty="0">
              <a:solidFill>
                <a:srgbClr val="0B12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F42200-B05B-40FC-845D-834B0DF4C5B9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3333750" cy="2333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D4CB22-44DA-453C-A383-411E2B0F86F5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D1105C-9AFE-4945-A255-6A1A08590D79}"/>
              </a:ext>
            </a:extLst>
          </p:cNvPr>
          <p:cNvSpPr>
            <a:spLocks noGrp="1"/>
          </p:cNvSpPr>
          <p:nvPr/>
        </p:nvSpPr>
        <p:spPr>
          <a:xfrm>
            <a:off x="819150" y="423862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82305A-F4D3-4EEC-84D8-C9A6E954C770}"/>
              </a:ext>
            </a:extLst>
          </p:cNvPr>
          <p:cNvSpPr>
            <a:spLocks noGrp="1"/>
          </p:cNvSpPr>
          <p:nvPr/>
        </p:nvSpPr>
        <p:spPr>
          <a:xfrm>
            <a:off x="4362450" y="2714625"/>
            <a:ext cx="3333750" cy="2333625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FA960A-31F6-4CA6-B0E0-24A1D948494F}"/>
              </a:ext>
            </a:extLst>
          </p:cNvPr>
          <p:cNvSpPr>
            <a:spLocks noGrp="1"/>
          </p:cNvSpPr>
          <p:nvPr/>
        </p:nvSpPr>
        <p:spPr>
          <a:xfrm>
            <a:off x="4591050" y="31432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</a:t>
            </a:r>
            <a:r>
              <a:rPr lang="en-US" sz="360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870</a:t>
            </a:r>
            <a:endParaRPr sz="3600" b="1" dirty="0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47DE7A-0181-45C9-A162-50E8D9F8BC77}"/>
              </a:ext>
            </a:extLst>
          </p:cNvPr>
          <p:cNvSpPr>
            <a:spLocks noGrp="1"/>
          </p:cNvSpPr>
          <p:nvPr/>
        </p:nvSpPr>
        <p:spPr>
          <a:xfrm>
            <a:off x="4591050" y="423862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B83F19-E1A8-487E-8249-0A87E8C442E4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3333750" cy="23336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E5C722-F372-480A-B34E-FD6D58CBD51B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</a:t>
            </a:r>
            <a:r>
              <a:rPr lang="en-US" sz="360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30</a:t>
            </a:r>
            <a:endParaRPr sz="3600" b="1" dirty="0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4396D2-605E-4CD3-9717-714448EDB972}"/>
              </a:ext>
            </a:extLst>
          </p:cNvPr>
          <p:cNvSpPr>
            <a:spLocks noGrp="1"/>
          </p:cNvSpPr>
          <p:nvPr/>
        </p:nvSpPr>
        <p:spPr>
          <a:xfrm>
            <a:off x="8362950" y="423862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4F8342-BA49-4072-933E-78ADBE0CF930}"/>
              </a:ext>
            </a:extLst>
          </p:cNvPr>
          <p:cNvSpPr>
            <a:spLocks noGrp="1"/>
          </p:cNvSpPr>
          <p:nvPr/>
        </p:nvSpPr>
        <p:spPr>
          <a:xfrm>
            <a:off x="590550" y="5381625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906"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endParaRPr sz="1875" b="1" dirty="0">
              <a:solidFill>
                <a:srgbClr val="0B122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3149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5A70348-517C-4BDD-87DB-8903A135A32E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085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新增 Ms 等性质时：复用主流程，只增加一套属性配置与验证集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56266D-0DFD-4999-BB5F-AE3B75F69F7C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633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536B20-B9B6-4C9E-8438-A86C8C933943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 lnSpcReduction="10000"/>
          </a:bodyPr>
          <a:lstStyle/>
          <a:p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19BB88-7D60-4EDB-A6A5-D5070C7DC21B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2476500" cy="2619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43A17D-78C4-4A75-8D60-6A1BF45DE5C4}"/>
              </a:ext>
            </a:extLst>
          </p:cNvPr>
          <p:cNvSpPr>
            <a:spLocks noGrp="1"/>
          </p:cNvSpPr>
          <p:nvPr/>
        </p:nvSpPr>
        <p:spPr>
          <a:xfrm>
            <a:off x="7143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4484C0-1CA7-4E19-B5CF-E3E490C29DA2}"/>
              </a:ext>
            </a:extLst>
          </p:cNvPr>
          <p:cNvSpPr>
            <a:spLocks noGrp="1"/>
          </p:cNvSpPr>
          <p:nvPr/>
        </p:nvSpPr>
        <p:spPr>
          <a:xfrm>
            <a:off x="7143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定义性质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6AEB51-1EE9-4505-B019-114D193813E8}"/>
              </a:ext>
            </a:extLst>
          </p:cNvPr>
          <p:cNvSpPr>
            <a:spLocks noGrp="1"/>
          </p:cNvSpPr>
          <p:nvPr/>
        </p:nvSpPr>
        <p:spPr>
          <a:xfrm>
            <a:off x="7143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14" lnSpcReduction="1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明确物理量、单位、别名、排除项，以及必须保存的测试条件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5D8BD9-C546-4106-8D11-D17424C0478B}"/>
              </a:ext>
            </a:extLst>
          </p:cNvPr>
          <p:cNvSpPr>
            <a:spLocks noGrp="1"/>
          </p:cNvSpPr>
          <p:nvPr/>
        </p:nvSpPr>
        <p:spPr>
          <a:xfrm>
            <a:off x="3381375" y="2143125"/>
            <a:ext cx="2476500" cy="2619375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397BC0-20FC-462F-994F-21B525D9D790}"/>
              </a:ext>
            </a:extLst>
          </p:cNvPr>
          <p:cNvSpPr>
            <a:spLocks noGrp="1"/>
          </p:cNvSpPr>
          <p:nvPr/>
        </p:nvSpPr>
        <p:spPr>
          <a:xfrm>
            <a:off x="35718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732168-BE95-4AF6-B2D5-A651F2765523}"/>
              </a:ext>
            </a:extLst>
          </p:cNvPr>
          <p:cNvSpPr>
            <a:spLocks noGrp="1"/>
          </p:cNvSpPr>
          <p:nvPr/>
        </p:nvSpPr>
        <p:spPr>
          <a:xfrm>
            <a:off x="35718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建立 preset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D6391F-0CF4-4260-990C-CDA60AE216DC}"/>
              </a:ext>
            </a:extLst>
          </p:cNvPr>
          <p:cNvSpPr>
            <a:spLocks noGrp="1"/>
          </p:cNvSpPr>
          <p:nvPr/>
        </p:nvSpPr>
        <p:spPr>
          <a:xfrm>
            <a:off x="35718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710" lnSpcReduction="2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新增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presets/&lt;property&gt;.</a:t>
            </a: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py：关键词、Identifier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问题、Extractor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提示与示例</a:t>
            </a:r>
            <a:endParaRPr sz="1425" b="0" dirty="0">
              <a:solidFill>
                <a:srgbClr val="59657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E76707-06E1-42C4-B8CF-C50DF70782F1}"/>
              </a:ext>
            </a:extLst>
          </p:cNvPr>
          <p:cNvSpPr>
            <a:spLocks noGrp="1"/>
          </p:cNvSpPr>
          <p:nvPr/>
        </p:nvSpPr>
        <p:spPr>
          <a:xfrm>
            <a:off x="6238875" y="2143125"/>
            <a:ext cx="2476500" cy="2619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A7633D-4031-4B20-A777-2E98638A301A}"/>
              </a:ext>
            </a:extLst>
          </p:cNvPr>
          <p:cNvSpPr>
            <a:spLocks noGrp="1"/>
          </p:cNvSpPr>
          <p:nvPr/>
        </p:nvSpPr>
        <p:spPr>
          <a:xfrm>
            <a:off x="64293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89C01F-5358-4E5B-8125-02FF747C76A4}"/>
              </a:ext>
            </a:extLst>
          </p:cNvPr>
          <p:cNvSpPr>
            <a:spLocks noGrp="1"/>
          </p:cNvSpPr>
          <p:nvPr/>
        </p:nvSpPr>
        <p:spPr>
          <a:xfrm>
            <a:off x="64293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设计数据结构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FF0FDE-CD46-468A-9660-D3B199350434}"/>
              </a:ext>
            </a:extLst>
          </p:cNvPr>
          <p:cNvSpPr>
            <a:spLocks noGrp="1"/>
          </p:cNvSpPr>
          <p:nvPr/>
        </p:nvSpPr>
        <p:spPr>
          <a:xfrm>
            <a:off x="64293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710" lnSpcReduction="2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扩展 Schema：value、unit、measurement_temperature、field、evidence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515A73-8DDD-4F92-ABDB-AF2EC577F340}"/>
              </a:ext>
            </a:extLst>
          </p:cNvPr>
          <p:cNvSpPr>
            <a:spLocks noGrp="1"/>
          </p:cNvSpPr>
          <p:nvPr/>
        </p:nvSpPr>
        <p:spPr>
          <a:xfrm>
            <a:off x="9096375" y="2143125"/>
            <a:ext cx="2476500" cy="2619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0DCC47-FF40-4470-B54E-35B2ED828D03}"/>
              </a:ext>
            </a:extLst>
          </p:cNvPr>
          <p:cNvSpPr>
            <a:spLocks noGrp="1"/>
          </p:cNvSpPr>
          <p:nvPr/>
        </p:nvSpPr>
        <p:spPr>
          <a:xfrm>
            <a:off x="9286875" y="2333625"/>
            <a:ext cx="47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29" lnSpcReduction="10000"/>
          </a:bodyPr>
          <a:lstStyle/>
          <a:p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E5BE00-1696-4FBE-B0F3-84D6E303AC96}"/>
              </a:ext>
            </a:extLst>
          </p:cNvPr>
          <p:cNvSpPr>
            <a:spLocks noGrp="1"/>
          </p:cNvSpPr>
          <p:nvPr/>
        </p:nvSpPr>
        <p:spPr>
          <a:xfrm>
            <a:off x="9286875" y="3000375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小规模验证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97413E-A4BB-4139-B18B-ABDE68E05744}"/>
              </a:ext>
            </a:extLst>
          </p:cNvPr>
          <p:cNvSpPr>
            <a:spLocks noGrp="1"/>
          </p:cNvSpPr>
          <p:nvPr/>
        </p:nvSpPr>
        <p:spPr>
          <a:xfrm>
            <a:off x="9286875" y="3667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87" lnSpcReduction="10000"/>
          </a:bodyPr>
          <a:lstStyle/>
          <a:p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先建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20–30 篇 </a:t>
            </a: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Gold；逐条审核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TP/FP/</a:t>
            </a:r>
            <a:r>
              <a:rPr sz="1425" b="0" dirty="0" err="1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FN，再冻结版本并跑</a:t>
            </a:r>
            <a:r>
              <a:rPr sz="1425" b="0" dirty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147CB6-8D04-4A92-B5B9-164C859CA39E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85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以 </a:t>
            </a:r>
            <a:r>
              <a:rPr sz="180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Ms</a:t>
            </a:r>
            <a:r>
              <a:rPr sz="180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为例：主程序无需重写；重点是把测量温度、外场和单位纳入</a:t>
            </a:r>
            <a:r>
              <a:rPr sz="180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Schema，并建立对应</a:t>
            </a:r>
            <a:r>
              <a:rPr sz="1800" b="1" dirty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 Gold。</a:t>
            </a:r>
          </a:p>
        </p:txBody>
      </p:sp>
    </p:spTree>
    <p:extLst>
      <p:ext uri="{BB962C8B-B14F-4D97-AF65-F5344CB8AC3E}">
        <p14:creationId xmlns:p14="http://schemas.microsoft.com/office/powerpoint/2010/main" val="7266307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DocSecurity>0</DocSecurity>
  <PresentationFormat>宽屏</PresentationFormat>
  <Paragraphs>108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陈敏焘 陈</cp:lastModifiedBy>
  <cp:revision>1</cp:revision>
  <dcterms:created xsi:type="dcterms:W3CDTF">2026-08-22T16:54:45Z</dcterms:created>
  <dcterms:modified xsi:type="dcterms:W3CDTF">2026-08-22T18:07:11Z</dcterms:modified>
</cp:coreProperties>
</file>